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85232"/>
            <a:ext cx="12191695" cy="1572768"/>
          </a:xfrm>
          <a:prstGeom prst="rect">
            <a:avLst/>
          </a:prstGeom>
          <a:solidFill>
            <a:srgbClr val="2F6FEB">
              <a:alpha val="88000"/>
            </a:srgbClr>
          </a:solidFill>
          <a:ln w="12700">
            <a:solidFill>
              <a:srgbClr val="2F6F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B5C8"/>
                </a:solidFill>
              </a:rPr>
              <a:t>WEEK 12 CRYPTOGRAPHY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11430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</a:rPr>
              <a:t>VIC Cipher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694944" y="205740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7E2F2"/>
                </a:solidFill>
              </a:rPr>
              <a:t>Cold War spy cryptography and a Python spy-app demo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0"/>
            <a:ext cx="3337560" cy="3886200"/>
          </a:xfrm>
          <a:prstGeom prst="roundRect">
            <a:avLst>
              <a:gd name="adj" fmla="val 2192"/>
            </a:avLst>
          </a:prstGeom>
          <a:solidFill>
            <a:srgbClr val="0F1722"/>
          </a:solidFill>
          <a:ln w="15240">
            <a:solidFill>
              <a:srgbClr val="2C3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47888" y="1325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B5C8"/>
                </a:solidFill>
              </a:rPr>
              <a:t>PLAINTEXT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16093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MEET AT NOON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47888" y="2148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B942"/>
                </a:solidFill>
              </a:rPr>
              <a:t>SECRET KEY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2432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secret-1970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47888" y="2971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2B768"/>
                </a:solidFill>
              </a:rPr>
              <a:t>CIPHERTEXT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32461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04 09 03 22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99 18 00 99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25 22 17 22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" y="5833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Individual Team 6 Work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EB"/>
                </a:solidFill>
              </a:rPr>
              <a:t>CORE 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F"/>
                </a:solidFill>
              </a:rPr>
              <a:t>What Is The VIC Cipher?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49808" y="1572768"/>
            <a:ext cx="658368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8212F"/>
                </a:solidFill>
              </a:rPr>
              <a:t>A hand cipher associated with Cold War espionage.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8212F"/>
                </a:solidFill>
              </a:rPr>
              <a:t>Connected to Soviet spy Reino Hayhanen.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8212F"/>
                </a:solidFill>
              </a:rPr>
              <a:t>Used numbers, secret key material, substitution, and transposition.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8212F"/>
                </a:solidFill>
              </a:rPr>
              <a:t>Important because it was unusually strong for a paper-and-pencil cipher.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44752"/>
            <a:ext cx="3611880" cy="4279392"/>
          </a:xfrm>
          <a:prstGeom prst="roundRect">
            <a:avLst>
              <a:gd name="adj" fmla="val 2025"/>
            </a:avLst>
          </a:prstGeom>
          <a:solidFill>
            <a:srgbClr val="EAF2FF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0" y="17830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EB"/>
                </a:solidFill>
              </a:rPr>
              <a:t>Presenter reminder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8160" y="2176272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12F"/>
                </a:solidFill>
              </a:rPr>
              <a:t>Say the idea simply first, then show how the demo proves it.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A"/>
                </a:solidFill>
              </a:rPr>
              <a:t>Week 12 Cryptography | VIC Cipher / Spy App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C667A"/>
                </a:solidFill>
              </a:rPr>
              <a:t>2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3B5C8"/>
          </a:solidFill>
          <a:ln w="12700">
            <a:solidFill>
              <a:srgbClr val="13B5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EB"/>
                </a:solidFill>
              </a:rPr>
              <a:t>CORE 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F"/>
                </a:solidFill>
              </a:rPr>
              <a:t>Why Spies Used Ciphers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49808" y="1572768"/>
            <a:ext cx="658368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8212F"/>
                </a:solidFill>
              </a:rPr>
              <a:t>Messages could be protected without computers.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8212F"/>
                </a:solidFill>
              </a:rPr>
              <a:t>Intercepted messages looked like random number groups.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8212F"/>
                </a:solidFill>
              </a:rPr>
              <a:t>The receiver needed the same secret key to decrypt.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8212F"/>
                </a:solidFill>
              </a:rPr>
              <a:t>The purpose was to hide both the words and the patterns.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44752"/>
            <a:ext cx="3611880" cy="4279392"/>
          </a:xfrm>
          <a:prstGeom prst="roundRect">
            <a:avLst>
              <a:gd name="adj" fmla="val 2025"/>
            </a:avLst>
          </a:prstGeom>
          <a:solidFill>
            <a:srgbClr val="EAF2FF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0" y="17830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B5C8"/>
                </a:solidFill>
              </a:rPr>
              <a:t>Presenter reminder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8160" y="2176272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12F"/>
                </a:solidFill>
              </a:rPr>
              <a:t>Say the idea simply first, then show how the demo proves it.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A"/>
                </a:solidFill>
              </a:rPr>
              <a:t>Week 12 Cryptography | VIC Cipher / Spy App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C667A"/>
                </a:solidFill>
              </a:rPr>
              <a:t>3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EB"/>
                </a:solidFill>
              </a:rPr>
              <a:t>CORE 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F"/>
                </a:solidFill>
              </a:rPr>
              <a:t>Cryptography Terms I Use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49808" y="1572768"/>
            <a:ext cx="658368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8212F"/>
                </a:solidFill>
              </a:rPr>
              <a:t>Plaintext: the original readable message.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8212F"/>
                </a:solidFill>
              </a:rPr>
              <a:t>Ciphertext: the encrypted message.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8212F"/>
                </a:solidFill>
              </a:rPr>
              <a:t>Key: secret information used to encrypt and decrypt.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8212F"/>
                </a:solidFill>
              </a:rPr>
              <a:t>Substitution and transposition: changing values and order to hide meaning.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44752"/>
            <a:ext cx="3611880" cy="4279392"/>
          </a:xfrm>
          <a:prstGeom prst="roundRect">
            <a:avLst>
              <a:gd name="adj" fmla="val 2025"/>
            </a:avLst>
          </a:prstGeom>
          <a:solidFill>
            <a:srgbClr val="EAF2FF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0" y="17830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</a:rPr>
              <a:t>Presenter reminder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8160" y="2176272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12F"/>
                </a:solidFill>
              </a:rPr>
              <a:t>Say the idea simply first, then show how the demo proves it.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A"/>
                </a:solidFill>
              </a:rPr>
              <a:t>Week 12 Cryptography | VIC Cipher / Spy App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C667A"/>
                </a:solidFill>
              </a:rPr>
              <a:t>4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EB"/>
                </a:solidFill>
              </a:rPr>
              <a:t>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F"/>
                </a:solidFill>
              </a:rPr>
              <a:t>How The VIC Cipher Works At A High Level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2240280" cy="2697480"/>
          </a:xfrm>
          <a:prstGeom prst="roundRect">
            <a:avLst>
              <a:gd name="adj" fmla="val 3265"/>
            </a:avLst>
          </a:prstGeom>
          <a:solidFill>
            <a:srgbClr val="FFF3D6"/>
          </a:solidFill>
          <a:ln w="13970">
            <a:solidFill>
              <a:srgbClr val="F4B9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57400"/>
            <a:ext cx="438912" cy="43891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21579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12F"/>
                </a:solidFill>
              </a:rPr>
              <a:t>Secret key material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331012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A"/>
                </a:solidFill>
              </a:rPr>
              <a:t>A phrase, date, or other shared secret starts the process.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44952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67A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502152" y="1828800"/>
            <a:ext cx="2240280" cy="2697480"/>
          </a:xfrm>
          <a:prstGeom prst="roundRect">
            <a:avLst>
              <a:gd name="adj" fmla="val 3265"/>
            </a:avLst>
          </a:prstGeom>
          <a:solidFill>
            <a:srgbClr val="E8FAFC"/>
          </a:solidFill>
          <a:ln w="13970">
            <a:solidFill>
              <a:srgbClr val="13B5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85032" y="2057400"/>
            <a:ext cx="438912" cy="438912"/>
          </a:xfrm>
          <a:prstGeom prst="ellipse">
            <a:avLst/>
          </a:prstGeom>
          <a:solidFill>
            <a:srgbClr val="13B5C8"/>
          </a:solidFill>
          <a:ln w="12700">
            <a:solidFill>
              <a:srgbClr val="13B5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3904" y="21579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21608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12F"/>
                </a:solidFill>
              </a:rPr>
              <a:t>Generate numbers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21608" y="331012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A"/>
                </a:solidFill>
              </a:rPr>
              <a:t>The key creates number sequences used to transform the message.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33872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67A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91072" y="1828800"/>
            <a:ext cx="2240280" cy="2697480"/>
          </a:xfrm>
          <a:prstGeom prst="roundRect">
            <a:avLst>
              <a:gd name="adj" fmla="val 3265"/>
            </a:avLst>
          </a:prstGeom>
          <a:solidFill>
            <a:srgbClr val="EAF2FF"/>
          </a:solidFill>
          <a:ln w="13970">
            <a:solidFill>
              <a:srgbClr val="2F6F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2057400"/>
            <a:ext cx="438912" cy="438912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21579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10528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12F"/>
                </a:solidFill>
              </a:rPr>
              <a:t>Convert message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10528" y="331012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A"/>
                </a:solidFill>
              </a:rPr>
              <a:t>The readable message is converted into letters or number groups.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22792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67A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079992" y="1828800"/>
            <a:ext cx="2240280" cy="2697480"/>
          </a:xfrm>
          <a:prstGeom prst="roundRect">
            <a:avLst>
              <a:gd name="adj" fmla="val 3265"/>
            </a:avLst>
          </a:prstGeom>
          <a:solidFill>
            <a:srgbClr val="EAF8EF"/>
          </a:solidFill>
          <a:ln w="13970">
            <a:solidFill>
              <a:srgbClr val="32B7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62872" y="2057400"/>
            <a:ext cx="438912" cy="438912"/>
          </a:xfrm>
          <a:prstGeom prst="ellipse">
            <a:avLst/>
          </a:prstGeom>
          <a:solidFill>
            <a:srgbClr val="32B768"/>
          </a:solidFill>
          <a:ln w="12700">
            <a:solidFill>
              <a:srgbClr val="32B7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81744" y="21579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99448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212F"/>
                </a:solidFill>
              </a:rPr>
              <a:t>Mix and send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99448" y="331012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A"/>
                </a:solidFill>
              </a:rPr>
              <a:t>Substitution and transposition make the final message hard to read.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78992" y="51663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212F"/>
                </a:solidFill>
              </a:rPr>
              <a:t>My demo simplifies this into: message + key → encrypted number groups → same key recovers the message.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A"/>
                </a:solidFill>
              </a:rPr>
              <a:t>Week 12 Cryptography | VIC Cipher / Spy App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C667A"/>
                </a:solidFill>
              </a:rPr>
              <a:t>5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EB"/>
                </a:solidFill>
              </a:rPr>
              <a:t>PROOF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F"/>
                </a:solidFill>
              </a:rPr>
              <a:t>Python Demo: Correct Key vs Wrong Key</a:t>
            </a:r>
            <a:endParaRPr lang="en-US" sz="2600" dirty="0"/>
          </a:p>
        </p:txBody>
      </p:sp>
      <p:pic>
        <p:nvPicPr>
          <p:cNvPr id="4" name="Image 0" descr="/var/folders/9k/3m2xb_ks5pj0v11brs_0ndfm0000gn/T/TemporaryItems/NSIRD_screencaptureui_0jrSmg/Screenshot 2026-05-17 at 11.28.52 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6949440" cy="3913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73568" y="1508760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16642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EB"/>
                </a:solidFill>
              </a:rPr>
              <a:t>Encrypt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0" y="1901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12F"/>
                </a:solidFill>
              </a:rPr>
              <a:t>The message becomes number groups.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73568" y="2651760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32B76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0" y="28072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B768"/>
                </a:solidFill>
              </a:rPr>
              <a:t>Correct key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0" y="3044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12F"/>
                </a:solidFill>
              </a:rPr>
              <a:t>Decrypts back to MEET AT NOON.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973568" y="3794760"/>
            <a:ext cx="3246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D94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0" y="39502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A4A"/>
                </a:solidFill>
              </a:rPr>
              <a:t>Wrong key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0" y="4187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12F"/>
                </a:solidFill>
              </a:rPr>
              <a:t>Produces unreadable text.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28432" y="5193792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212F"/>
                </a:solidFill>
              </a:rPr>
              <a:t>This proves the central cryptography idea: the secret key controls whether the ciphertext can be read.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A"/>
                </a:solidFill>
              </a:rPr>
              <a:t>Week 12 Cryptography | VIC Cipher / Spy App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C667A"/>
                </a:solidFill>
              </a:rPr>
              <a:t>6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2B768"/>
          </a:solidFill>
          <a:ln w="12700">
            <a:solidFill>
              <a:srgbClr val="32B7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6FEB"/>
                </a:solidFill>
              </a:rPr>
              <a:t>CORE 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F"/>
                </a:solidFill>
              </a:rPr>
              <a:t>What My Spy App Shows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49808" y="1572768"/>
            <a:ext cx="658368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8212F"/>
                </a:solidFill>
              </a:rPr>
              <a:t>The user enters a message and a secret key.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8212F"/>
                </a:solidFill>
              </a:rPr>
              <a:t>The app converts the message into encrypted number groups.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8212F"/>
                </a:solidFill>
              </a:rPr>
              <a:t>The same key recovers the original message.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8212F"/>
                </a:solidFill>
              </a:rPr>
              <a:t>A wrong key gives wrong text, proving why the secret matters.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44752"/>
            <a:ext cx="3611880" cy="4279392"/>
          </a:xfrm>
          <a:prstGeom prst="roundRect">
            <a:avLst>
              <a:gd name="adj" fmla="val 2025"/>
            </a:avLst>
          </a:prstGeom>
          <a:solidFill>
            <a:srgbClr val="EAF2FF"/>
          </a:solidFill>
          <a:ln w="12700">
            <a:solidFill>
              <a:srgbClr val="D9E1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0" y="17830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B768"/>
                </a:solidFill>
              </a:rPr>
              <a:t>Presenter reminder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8160" y="2176272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212F"/>
                </a:solidFill>
              </a:rPr>
              <a:t>Say the idea simply first, then show how the demo proves it.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A"/>
                </a:solidFill>
              </a:rPr>
              <a:t>Week 12 Cryptography | VIC Cipher / Spy App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C667A"/>
                </a:solidFill>
              </a:rPr>
              <a:t>7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2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7132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828800"/>
            <a:ext cx="681228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EAF2FF"/>
                </a:solidFill>
              </a:rPr>
              <a:t>The VIC cipher shows that strong cryptography existed before modern computers.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EAF2FF"/>
                </a:solidFill>
              </a:rPr>
              <a:t>A secret key is the heart of encryption and decryption.</a:t>
            </a: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EAF2FF"/>
                </a:solidFill>
              </a:rPr>
              <a:t>My Python app demonstrates the core idea safely for education.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183880" y="1691640"/>
            <a:ext cx="3063240" cy="2148840"/>
          </a:xfrm>
          <a:prstGeom prst="roundRect">
            <a:avLst>
              <a:gd name="adj" fmla="val 3404"/>
            </a:avLst>
          </a:prstGeom>
          <a:solidFill>
            <a:srgbClr val="0F1722"/>
          </a:solidFill>
          <a:ln w="13970">
            <a:solidFill>
              <a:srgbClr val="3344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8563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942"/>
                </a:solidFill>
              </a:rPr>
              <a:t>Ethics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85632" y="2432304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Cryptography protects privacy and security. Demonstrations should stay educational and authorized.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5833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B5C8"/>
                </a:solidFill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Information Security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VIC Cipher: Cold War Spy Cryptography</dc:title>
  <dc:subject>VIC Cipher / Spy App</dc:subject>
  <dc:creator>Team 6 Individual Submission</dc:creator>
  <cp:lastModifiedBy>Team 6 Individual Submission</cp:lastModifiedBy>
  <cp:revision>1</cp:revision>
  <dcterms:created xsi:type="dcterms:W3CDTF">2026-05-17T14:33:11Z</dcterms:created>
  <dcterms:modified xsi:type="dcterms:W3CDTF">2026-05-17T14:33:11Z</dcterms:modified>
</cp:coreProperties>
</file>