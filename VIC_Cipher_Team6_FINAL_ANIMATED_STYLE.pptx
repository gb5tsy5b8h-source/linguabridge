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D4ED8">
              <a:alpha val="9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6583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WEEK 12 CRYPTOGRAPHY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13232" y="1115568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VIC Cipher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Spy App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25146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8FA"/>
                </a:solidFill>
              </a:rPr>
              <a:t>W5H1 + Python source-code demo + cracking possibilities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89520" y="914400"/>
            <a:ext cx="3429000" cy="3657600"/>
          </a:xfrm>
          <a:prstGeom prst="roundRect">
            <a:avLst>
              <a:gd name="adj" fmla="val 1467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2618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7E8F9"/>
                </a:solidFill>
              </a:rPr>
              <a:t>MISSION CARD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973568" y="1737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E8"/>
                </a:solidFill>
              </a:rPr>
              <a:t>Assigned topic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73568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VIC Cipher / spy app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973568" y="27614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E8"/>
                </a:solidFill>
              </a:rPr>
              <a:t>Required output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73568" y="305409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PPT/PDF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Python demo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Cracking analysis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9808" y="58064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Name / Student ID: ____________________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PROFESSOR CHECKLIST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What This Presentation Covers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Designed to match the Week 12 requirements directly.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868680" y="1600200"/>
            <a:ext cx="9875520" cy="530352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1709928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179222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W5H1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2743200" y="176479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</a:rPr>
              <a:t>Who, What, When, Where, Why, How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2350008"/>
            <a:ext cx="9875520" cy="530352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459736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0EA5A7"/>
          </a:solidFill>
          <a:ln w="12700">
            <a:solidFill>
              <a:srgbClr val="0EA5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254203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Algorithm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</a:rPr>
              <a:t>VIC-inspired substitution + transposition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3099816"/>
            <a:ext cx="9875520" cy="530352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5568" y="3209544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329184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Python Demo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743200" y="3264408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</a:rPr>
              <a:t>Source code and visual spy console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3849624"/>
            <a:ext cx="9875520" cy="530352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5568" y="3959352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" y="404164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Cracking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2743200" y="4014216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</a:rPr>
              <a:t>How weak keys and patterns can be attacked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68680" y="4599432"/>
            <a:ext cx="9875520" cy="530352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5568" y="470916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25296" y="4791456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Ethics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743200" y="4764024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</a:rPr>
              <a:t>Educational and authorized use only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Week 12 Cryptography | Team 6 | VIC Cipher / Spy App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11064240" y="6473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02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REQUIRED ANALYSIS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W5H1: VIC Cipher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The required summary frame for the assigned cryptography topic.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4901184" cy="804672"/>
          </a:xfrm>
          <a:prstGeom prst="roundRect">
            <a:avLst>
              <a:gd name="adj" fmla="val 6250"/>
            </a:avLst>
          </a:prstGeom>
          <a:solidFill>
            <a:srgbClr val="F6F8FC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739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Who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00784" y="1746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Cold War intelligence users; connected to Reino Hayhanen.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9632" y="1572768"/>
            <a:ext cx="4901184" cy="804672"/>
          </a:xfrm>
          <a:prstGeom prst="roundRect">
            <a:avLst>
              <a:gd name="adj" fmla="val 6250"/>
            </a:avLst>
          </a:prstGeom>
          <a:solidFill>
            <a:srgbClr val="F6F8FC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7739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A7"/>
                </a:solidFill>
              </a:rPr>
              <a:t>What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42048" y="1746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A hand cipher that encrypts messages into number groups.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2761488"/>
            <a:ext cx="4901184" cy="804672"/>
          </a:xfrm>
          <a:prstGeom prst="roundRect">
            <a:avLst>
              <a:gd name="adj" fmla="val 6250"/>
            </a:avLst>
          </a:prstGeom>
          <a:solidFill>
            <a:srgbClr val="F6F8FC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9626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00784" y="29352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Cold War period; publicly known after espionage investigations.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9632" y="2761488"/>
            <a:ext cx="4901184" cy="804672"/>
          </a:xfrm>
          <a:prstGeom prst="roundRect">
            <a:avLst>
              <a:gd name="adj" fmla="val 6250"/>
            </a:avLst>
          </a:prstGeom>
          <a:solidFill>
            <a:srgbClr val="F6F8FC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9626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</a:rPr>
              <a:t>Where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42048" y="29352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Covert communication contexts where messages could be intercepted.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950208"/>
            <a:ext cx="4901184" cy="804672"/>
          </a:xfrm>
          <a:prstGeom prst="roundRect">
            <a:avLst>
              <a:gd name="adj" fmla="val 6250"/>
            </a:avLst>
          </a:prstGeom>
          <a:solidFill>
            <a:srgbClr val="F6F8FC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41513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Why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00784" y="4123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Protect secret messages without needing a computer.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9632" y="3950208"/>
            <a:ext cx="4901184" cy="804672"/>
          </a:xfrm>
          <a:prstGeom prst="roundRect">
            <a:avLst>
              <a:gd name="adj" fmla="val 6250"/>
            </a:avLst>
          </a:prstGeom>
          <a:solidFill>
            <a:srgbClr val="F6F8FC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41513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How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42048" y="4123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Secret key material drives numeric substitution and transposition.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Week 12 Cryptography | Team 6 | VIC Cipher / Spy App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11064240" y="6473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03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HISTORICAL CONTEXT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What Is The VIC Cipher?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A Cold War hand cipher known for being strong without computers.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3154680" cy="324612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075688"/>
            <a:ext cx="566928" cy="566928"/>
          </a:xfrm>
          <a:prstGeom prst="ellipse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22219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" y="2880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Paper-and-pencil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" y="33832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Designed for secret communication without electronic tools.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3154680" cy="324612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075688"/>
            <a:ext cx="566928" cy="566928"/>
          </a:xfrm>
          <a:prstGeom prst="ellipse">
            <a:avLst/>
          </a:prstGeom>
          <a:solidFill>
            <a:srgbClr val="FFF5D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2624" y="22219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2880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Number groups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3832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Readable text becomes digits that can be transmitted safely.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11312" y="1691640"/>
            <a:ext cx="3154680" cy="324612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1352" y="2075688"/>
            <a:ext cx="566928" cy="566928"/>
          </a:xfrm>
          <a:prstGeom prst="ellipse">
            <a:avLst/>
          </a:prstGeom>
          <a:solidFill>
            <a:srgbClr val="EAF8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23376" y="22219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31352" y="2880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Layered security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31352" y="33832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Substitution and transposition hide patterns together.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Week 12 Cryptography | Team 6 | VIC Cipher / Spy App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1064240" y="6473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04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VOCABULARY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Core Cryptography Terms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These terms make the demo easy to follow.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3246120" cy="987552"/>
          </a:xfrm>
          <a:prstGeom prst="roundRect">
            <a:avLst>
              <a:gd name="adj" fmla="val 5093"/>
            </a:avLst>
          </a:prstGeom>
          <a:solidFill>
            <a:srgbClr val="F6F8FC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8013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</a:rPr>
              <a:t>Plaintext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41832" y="213969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Original readable message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4480560" y="1572768"/>
            <a:ext cx="3246120" cy="987552"/>
          </a:xfrm>
          <a:prstGeom prst="roundRect">
            <a:avLst>
              <a:gd name="adj" fmla="val 5093"/>
            </a:avLst>
          </a:prstGeom>
          <a:solidFill>
            <a:srgbClr val="F6F8FC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8013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A34A"/>
                </a:solidFill>
              </a:rPr>
              <a:t>Ciphertext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36592" y="213969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Encrypted protected message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8275320" y="1572768"/>
            <a:ext cx="3246120" cy="987552"/>
          </a:xfrm>
          <a:prstGeom prst="roundRect">
            <a:avLst>
              <a:gd name="adj" fmla="val 5093"/>
            </a:avLst>
          </a:prstGeom>
          <a:solidFill>
            <a:srgbClr val="F6F8FC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31352" y="18013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</a:rPr>
              <a:t>Key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531352" y="213969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Secret information required to decrypt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3246120" cy="987552"/>
          </a:xfrm>
          <a:prstGeom prst="roundRect">
            <a:avLst>
              <a:gd name="adj" fmla="val 5093"/>
            </a:avLst>
          </a:prstGeom>
          <a:solidFill>
            <a:srgbClr val="F6F8FC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3558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A5A7"/>
                </a:solidFill>
              </a:rPr>
              <a:t>Substitution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41832" y="369417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Replace letters with other symbols or numbers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4480560" y="3127248"/>
            <a:ext cx="3246120" cy="987552"/>
          </a:xfrm>
          <a:prstGeom prst="roundRect">
            <a:avLst>
              <a:gd name="adj" fmla="val 5093"/>
            </a:avLst>
          </a:prstGeom>
          <a:solidFill>
            <a:srgbClr val="F6F8FC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33558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28D9"/>
                </a:solidFill>
              </a:rPr>
              <a:t>Transposition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736592" y="369417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Rearrange the order of symbols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8275320" y="3127248"/>
            <a:ext cx="3246120" cy="987552"/>
          </a:xfrm>
          <a:prstGeom prst="roundRect">
            <a:avLst>
              <a:gd name="adj" fmla="val 5093"/>
            </a:avLst>
          </a:prstGeom>
          <a:solidFill>
            <a:srgbClr val="F6F8FC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31352" y="33558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C2626"/>
                </a:solidFill>
              </a:rPr>
              <a:t>Cracking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531352" y="369417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67085"/>
                </a:solidFill>
              </a:rPr>
              <a:t>Trying to recover plaintext without the key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Week 12 Cryptography | Team 6 | VIC Cipher / Spy App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11064240" y="6473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05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ANIMATED BUILD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How The Demo Encrypts A Message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This sequence is split into build slides so it works on any computer.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Normalize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MEET AT NOON → MEETATNOON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2807208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EEF2F7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Keyed alphabet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63240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 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11496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EEF2F7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67528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Checkerboard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67528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 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415784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EEF2F7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98664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71816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Transposition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671816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 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9720072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EEF2F7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02952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76104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Ciphertext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976104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 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1508760" y="4572000"/>
            <a:ext cx="8961120" cy="658368"/>
          </a:xfrm>
          <a:prstGeom prst="roundRect">
            <a:avLst>
              <a:gd name="adj" fmla="val 7639"/>
            </a:avLst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83080" y="480060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Normalize: MEET AT NOON → MEETATNOON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Week 12 Cryptography | Team 6 | VIC Cipher / Spy App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11064240" y="6473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06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ANIMATED BUILD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How The Demo Encrypts A Message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This sequence is split into build slides so it works on any computer.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Normalize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MEET AT NOON → MEETATNOON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2807208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0EA5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A7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Keyed alphabet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63240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SECRET 1970 changes alphabet order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11496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EEF2F7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67528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Checkerboard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67528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 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415784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EEF2F7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98664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71816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Transposition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671816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 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9720072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EEF2F7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02952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76104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Ciphertext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976104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 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1508760" y="4572000"/>
            <a:ext cx="8961120" cy="658368"/>
          </a:xfrm>
          <a:prstGeom prst="roundRect">
            <a:avLst>
              <a:gd name="adj" fmla="val 7639"/>
            </a:avLst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83080" y="480060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Keyed alphabet: SECRET 1970 changes alphabet order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Week 12 Cryptography | Team 6 | VIC Cipher / Spy App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11064240" y="6473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07</a:t>
            </a:r>
            <a:endParaRPr lang="en-US" sz="7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ANIMATED BUILD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How The Demo Encrypts A Message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This sequence is split into build slides so it works on any computer.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Normalize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MEET AT NOON → MEETATNOON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2807208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0EA5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A7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Keyed alphabet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63240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SECRET 1970 changes alphabet order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11496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67528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Checkerboard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67528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Letters become one- or two-digit codes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415784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EEF2F7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98664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71816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Transposition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671816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 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9720072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EEF2F7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02952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76104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Ciphertext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976104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 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1508760" y="4572000"/>
            <a:ext cx="8961120" cy="658368"/>
          </a:xfrm>
          <a:prstGeom prst="roundRect">
            <a:avLst>
              <a:gd name="adj" fmla="val 7639"/>
            </a:avLst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83080" y="480060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Checkerboard: Letters become one- or two-digit codes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Week 12 Cryptography | Team 6 | VIC Cipher / Spy App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11064240" y="6473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08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ANIMATED BUILD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How The Demo Encrypts A Message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This sequence is split into build slides so it works on any computer.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Normalize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MEET AT NOON → MEETATNOON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2807208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0EA5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A7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Keyed alphabet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63240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SECRET 1970 changes alphabet order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11496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67528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Checkerboard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67528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Letters become one- or two-digit codes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415784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98664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71816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Transposition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671816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Digits are rearranged by key order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9720072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EEF2F7"/>
          </a:solidFill>
          <a:ln w="12700">
            <a:solidFill>
              <a:srgbClr val="D6DD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02952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76104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67085"/>
                </a:solidFill>
              </a:rPr>
              <a:t>Ciphertext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976104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 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1508760" y="4572000"/>
            <a:ext cx="8961120" cy="658368"/>
          </a:xfrm>
          <a:prstGeom prst="roundRect">
            <a:avLst>
              <a:gd name="adj" fmla="val 7639"/>
            </a:avLst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83080" y="480060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Transposition: Digits are rearranged by key order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Week 12 Cryptography | Team 6 | VIC Cipher / Spy App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11064240" y="6473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09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ANIMATED BUILD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How The Demo Encrypts A Message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This sequence is split into build slides so it works on any computer.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Normalize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MEET AT NOON → MEETATNOON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2807208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0EA5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A7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Keyed alphabet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63240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SECRET 1970 changes alphabet order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11496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67528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Checkerboard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67528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Letters become one- or two-digit codes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415784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98664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71816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Transposition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671816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Digits are rearranged by key order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9720072" y="1874520"/>
            <a:ext cx="1874520" cy="214884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02952" y="206654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76104" y="25420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Ciphertext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976104" y="2953512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00151 88722 59012 02597 20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1508760" y="4572000"/>
            <a:ext cx="8961120" cy="658368"/>
          </a:xfrm>
          <a:prstGeom prst="roundRect">
            <a:avLst>
              <a:gd name="adj" fmla="val 7639"/>
            </a:avLst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83080" y="480060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Ciphertext: 00151 88722 59012 02597 20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Week 12 Cryptography | Team 6 | VIC Cipher / Spy App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11064240" y="6473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10</a:t>
            </a:r>
            <a:endParaRPr lang="en-US" sz="7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REQUIRED DEMO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Python Source Code Demo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The source code file is part of the deliverable.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713232" y="1508760"/>
            <a:ext cx="5138928" cy="3840480"/>
          </a:xfrm>
          <a:prstGeom prst="roundRect">
            <a:avLst>
              <a:gd name="adj" fmla="val 131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288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</a:rPr>
              <a:t>vic_cipher_professional_demo.py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2267712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python3 vic_cipher_professional_demo.py encrypt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--key "SECRET 1970"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--text "MEET AT NOON"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--show-steps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24128" y="39776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DDE8FA"/>
                </a:solidFill>
              </a:rPr>
              <a:t>Shows the internal workflow: keyed alphabet, checkerboard substitution, transposition, and final ciphertext.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29768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Python source-code demo is available to inspect.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Browser spy console gives a polished visual demo.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Both use the same cryptography logic.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Correct key and wrong-key behavior are shown.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Week 12 Cryptography | Team 6 | VIC Cipher / Spy App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1064240" y="6473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11</a:t>
            </a:r>
            <a:endParaRPr lang="en-US" sz="7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VISUAL DEMO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Spy Console: Professional Demo Screen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Use this browser app live, then keep this screenshot in the deck.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7498080" cy="4791456"/>
          </a:xfrm>
          <a:prstGeom prst="roundRect">
            <a:avLst>
              <a:gd name="adj" fmla="val 1050"/>
            </a:avLst>
          </a:prstGeom>
          <a:solidFill>
            <a:srgbClr val="09111F"/>
          </a:solidFill>
          <a:ln w="12700">
            <a:solidFill>
              <a:srgbClr val="2636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642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VIC Cipher Spy Console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59536" y="197510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7E8F9"/>
                </a:solidFill>
              </a:rPr>
              <a:t>Week 12 Cryptography Demo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8680" y="2359152"/>
            <a:ext cx="2331720" cy="2606040"/>
          </a:xfrm>
          <a:prstGeom prst="roundRect">
            <a:avLst>
              <a:gd name="adj" fmla="val 215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6151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Operator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298094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CA8BD"/>
                </a:solidFill>
              </a:rPr>
              <a:t>Plain Message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069848" y="3136392"/>
            <a:ext cx="1755648" cy="310896"/>
          </a:xfrm>
          <a:prstGeom prst="roundRect">
            <a:avLst>
              <a:gd name="adj" fmla="val 16176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9576" y="324612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MEET AT NOON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078992" y="360273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CA8BD"/>
                </a:solidFill>
              </a:rPr>
              <a:t>Secret Key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069848" y="3758184"/>
            <a:ext cx="1755648" cy="310896"/>
          </a:xfrm>
          <a:prstGeom prst="roundRect">
            <a:avLst>
              <a:gd name="adj" fmla="val 16176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9576" y="386791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SECRET 1970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069848" y="4315968"/>
            <a:ext cx="786384" cy="310896"/>
          </a:xfrm>
          <a:prstGeom prst="roundRect">
            <a:avLst>
              <a:gd name="adj" fmla="val 16176"/>
            </a:avLst>
          </a:prstGeom>
          <a:solidFill>
            <a:srgbClr val="35D0DF"/>
          </a:solidFill>
          <a:ln w="12700">
            <a:solidFill>
              <a:srgbClr val="35D0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442569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111F"/>
                </a:solidFill>
              </a:rPr>
              <a:t>Encrypt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1956816" y="4315968"/>
            <a:ext cx="786384" cy="310896"/>
          </a:xfrm>
          <a:prstGeom prst="roundRect">
            <a:avLst>
              <a:gd name="adj" fmla="val 16176"/>
            </a:avLst>
          </a:prstGeom>
          <a:solidFill>
            <a:srgbClr val="F8C35B"/>
          </a:solidFill>
          <a:ln w="12700">
            <a:solidFill>
              <a:srgbClr val="F8C3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12264" y="442569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111F"/>
                </a:solidFill>
              </a:rPr>
              <a:t>Decrypt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3493008" y="2359152"/>
            <a:ext cx="4069080" cy="804672"/>
          </a:xfrm>
          <a:prstGeom prst="roundRect">
            <a:avLst>
              <a:gd name="adj" fmla="val 6250"/>
            </a:avLst>
          </a:prstGeom>
          <a:solidFill>
            <a:srgbClr val="09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257860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Mission Output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30752" y="285292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28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NUUICIOQQPA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53328" y="260604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EE28A"/>
                </a:solidFill>
              </a:rPr>
              <a:t>Wrong-key test completed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57600" y="34930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Algorithm Steps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3822192"/>
            <a:ext cx="1572768" cy="384048"/>
          </a:xfrm>
          <a:prstGeom prst="roundRect">
            <a:avLst>
              <a:gd name="adj" fmla="val 13095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3913632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35D0DF"/>
                </a:solidFill>
              </a:rPr>
              <a:t>Normalize</a:t>
            </a:r>
            <a:endParaRPr lang="en-US" sz="670" dirty="0"/>
          </a:p>
        </p:txBody>
      </p:sp>
      <p:sp>
        <p:nvSpPr>
          <p:cNvPr id="27" name="Text 25"/>
          <p:cNvSpPr/>
          <p:nvPr/>
        </p:nvSpPr>
        <p:spPr>
          <a:xfrm>
            <a:off x="3767328" y="4059936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MEETATNOON</a:t>
            </a:r>
            <a:endParaRPr lang="en-US" sz="610" dirty="0"/>
          </a:p>
        </p:txBody>
      </p:sp>
      <p:sp>
        <p:nvSpPr>
          <p:cNvPr id="28" name="Shape 26"/>
          <p:cNvSpPr/>
          <p:nvPr/>
        </p:nvSpPr>
        <p:spPr>
          <a:xfrm>
            <a:off x="5486400" y="3822192"/>
            <a:ext cx="1572768" cy="384048"/>
          </a:xfrm>
          <a:prstGeom prst="roundRect">
            <a:avLst>
              <a:gd name="adj" fmla="val 13095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6128" y="3913632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35D0DF"/>
                </a:solidFill>
              </a:rPr>
              <a:t>Keyed Alphabet</a:t>
            </a:r>
            <a:endParaRPr lang="en-US" sz="670" dirty="0"/>
          </a:p>
        </p:txBody>
      </p:sp>
      <p:sp>
        <p:nvSpPr>
          <p:cNvPr id="30" name="Text 28"/>
          <p:cNvSpPr/>
          <p:nvPr/>
        </p:nvSpPr>
        <p:spPr>
          <a:xfrm>
            <a:off x="5596128" y="4059936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SECRTABDFGHI...</a:t>
            </a:r>
            <a:endParaRPr lang="en-US" sz="610" dirty="0"/>
          </a:p>
        </p:txBody>
      </p:sp>
      <p:sp>
        <p:nvSpPr>
          <p:cNvPr id="31" name="Shape 29"/>
          <p:cNvSpPr/>
          <p:nvPr/>
        </p:nvSpPr>
        <p:spPr>
          <a:xfrm>
            <a:off x="3657600" y="4389120"/>
            <a:ext cx="1572768" cy="384048"/>
          </a:xfrm>
          <a:prstGeom prst="roundRect">
            <a:avLst>
              <a:gd name="adj" fmla="val 13095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4480560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35D0DF"/>
                </a:solidFill>
              </a:rPr>
              <a:t>Substitution</a:t>
            </a:r>
            <a:endParaRPr lang="en-US" sz="670" dirty="0"/>
          </a:p>
        </p:txBody>
      </p:sp>
      <p:sp>
        <p:nvSpPr>
          <p:cNvPr id="33" name="Text 31"/>
          <p:cNvSpPr/>
          <p:nvPr/>
        </p:nvSpPr>
        <p:spPr>
          <a:xfrm>
            <a:off x="3767328" y="4626864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27115 75282 92928</a:t>
            </a:r>
            <a:endParaRPr lang="en-US" sz="610" dirty="0"/>
          </a:p>
        </p:txBody>
      </p:sp>
      <p:sp>
        <p:nvSpPr>
          <p:cNvPr id="34" name="Shape 32"/>
          <p:cNvSpPr/>
          <p:nvPr/>
        </p:nvSpPr>
        <p:spPr>
          <a:xfrm>
            <a:off x="5486400" y="4389120"/>
            <a:ext cx="1572768" cy="384048"/>
          </a:xfrm>
          <a:prstGeom prst="roundRect">
            <a:avLst>
              <a:gd name="adj" fmla="val 13095"/>
            </a:avLst>
          </a:prstGeom>
          <a:solidFill>
            <a:srgbClr val="16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96128" y="4480560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35D0DF"/>
                </a:solidFill>
              </a:rPr>
              <a:t>Transposition</a:t>
            </a:r>
            <a:endParaRPr lang="en-US" sz="670" dirty="0"/>
          </a:p>
        </p:txBody>
      </p:sp>
      <p:sp>
        <p:nvSpPr>
          <p:cNvPr id="36" name="Text 34"/>
          <p:cNvSpPr/>
          <p:nvPr/>
        </p:nvSpPr>
        <p:spPr>
          <a:xfrm>
            <a:off x="5596128" y="4626864"/>
            <a:ext cx="1234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00151 88722 59012...</a:t>
            </a:r>
            <a:endParaRPr lang="en-US" sz="610" dirty="0"/>
          </a:p>
        </p:txBody>
      </p:sp>
      <p:sp>
        <p:nvSpPr>
          <p:cNvPr id="37" name="Shape 35"/>
          <p:cNvSpPr/>
          <p:nvPr/>
        </p:nvSpPr>
        <p:spPr>
          <a:xfrm>
            <a:off x="8366760" y="1508760"/>
            <a:ext cx="2743200" cy="3474720"/>
          </a:xfrm>
          <a:prstGeom prst="roundRect">
            <a:avLst>
              <a:gd name="adj" fmla="val 1833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41080" y="1828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</a:rPr>
              <a:t>Live flow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668512" y="2267712"/>
            <a:ext cx="187452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72033"/>
                </a:solidFill>
              </a:rPr>
              <a:t>Encrypt Message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72033"/>
                </a:solidFill>
              </a:rPr>
              <a:t>Point to Algorithm Steps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72033"/>
                </a:solidFill>
              </a:rPr>
              <a:t>Point to Keyed Checkerboard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72033"/>
                </a:solidFill>
              </a:rPr>
              <a:t>Decrypt Ciphertext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72033"/>
                </a:solidFill>
              </a:rPr>
              <a:t>Test Wrong Key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8668512" y="43708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This looks more professional than a plain terminal and is easier for classmates to follow.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Week 12 Cryptography | Team 6 | VIC Cipher / Spy App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11064240" y="6473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12</a:t>
            </a:r>
            <a:endParaRPr lang="en-US" sz="7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REQUIRED ANALYSIS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Cracking Possibilities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How a classical cipher can become vulnerable.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749808" y="1627632"/>
            <a:ext cx="4983480" cy="3566160"/>
          </a:xfrm>
          <a:prstGeom prst="roundRect">
            <a:avLst>
              <a:gd name="adj" fmla="val 1410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56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Attack opportunities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246888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</a:rPr>
              <a:t>Weak or guessable keys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</a:rPr>
              <a:t>Repeated key material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</a:rPr>
              <a:t>Human mistakes while encrypting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</a:rPr>
              <a:t>Repeated messages or predictable wording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</a:rPr>
              <a:t>Enough ciphertext for pattern analysis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46520" y="1627632"/>
            <a:ext cx="4983480" cy="3566160"/>
          </a:xfrm>
          <a:prstGeom prst="roundRect">
            <a:avLst>
              <a:gd name="adj" fmla="val 1410"/>
            </a:avLst>
          </a:prstGeom>
          <a:solidFill>
            <a:srgbClr val="EAF8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956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Defense lesson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</a:rPr>
              <a:t>Use strong, unique keys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</a:rPr>
              <a:t>Never reuse keys for many messages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</a:rPr>
              <a:t>Avoid predictable message formats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72033"/>
                </a:solidFill>
              </a:rPr>
              <a:t>Use modern reviewed cryptography for real systems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Week 12 Cryptography | Team 6 | VIC Cipher / Spy App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11064240" y="6473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13</a:t>
            </a:r>
            <a:endParaRPr lang="en-US" sz="7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563EB"/>
                </a:solidFill>
              </a:rPr>
              <a:t>SECURITY PRACTICE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Ethics And Limits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A professional demo also states what it should not be used for.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960120" y="1828800"/>
            <a:ext cx="566928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This is a classroom demonstration, not real-world secure encryption.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Cryptography protects privacy, banking, messaging, and national security.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Security tools and demos should be used only in legal, authorized settings.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Modern security should use reviewed algorithms and libraries.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06640" y="1719072"/>
            <a:ext cx="3337560" cy="30175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26680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Presenter 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26680" y="2560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The purpose is to understand how keys protect information, not to claim this demo is modern secure encryption.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Week 12 Cryptography | Team 6 | VIC Cipher / Spy App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11064240" y="6473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667085"/>
                </a:solidFill>
              </a:rPr>
              <a:t>14</a:t>
            </a:r>
            <a:endParaRPr lang="en-US" sz="7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49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87552" y="1828800"/>
            <a:ext cx="667512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DDE8FA"/>
                </a:solidFill>
              </a:rPr>
              <a:t>The VIC cipher shows strong pre-computer cryptography.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DDE8FA"/>
                </a:solidFill>
              </a:rPr>
              <a:t>My demo uses keyed substitution and transposition to model the idea.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DDE8FA"/>
                </a:solidFill>
              </a:rPr>
              <a:t>The correct key recovers the message; the wrong key does not.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DDE8FA"/>
                </a:solidFill>
              </a:rPr>
              <a:t>Cracking risk comes from weak keys, mistakes, and repeated patterns.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138160" y="1874520"/>
            <a:ext cx="2926080" cy="2103120"/>
          </a:xfrm>
          <a:prstGeom prst="roundRect">
            <a:avLst>
              <a:gd name="adj" fmla="val 2391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30768" y="2221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</a:rPr>
              <a:t>Final deliverables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30768" y="2606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PPT/PDF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Python source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Browser demo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Demo commands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9808" y="5806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E8F9"/>
                </a:solidFill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Information Security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VIC Cipher / Spy App - Final Presentation</dc:title>
  <dc:subject>Week 12 Cryptography: VIC Cipher / Spy App</dc:subject>
  <dc:creator>Team 6 Individual Submission</dc:creator>
  <cp:lastModifiedBy>Team 6 Individual Submission</cp:lastModifiedBy>
  <cp:revision>1</cp:revision>
  <dcterms:created xsi:type="dcterms:W3CDTF">2026-05-27T04:23:56Z</dcterms:created>
  <dcterms:modified xsi:type="dcterms:W3CDTF">2026-05-27T04:23:56Z</dcterms:modified>
</cp:coreProperties>
</file>