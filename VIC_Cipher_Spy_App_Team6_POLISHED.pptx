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166360"/>
            <a:ext cx="12191695" cy="1691640"/>
          </a:xfrm>
          <a:prstGeom prst="rect">
            <a:avLst/>
          </a:prstGeom>
          <a:solidFill>
            <a:srgbClr val="1E40AF">
              <a:alpha val="90000"/>
            </a:srgbClr>
          </a:solidFill>
          <a:ln w="12700">
            <a:solidFill>
              <a:srgbClr val="1E40AF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85800" y="658368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7E8F9"/>
                </a:solidFill>
              </a:rPr>
              <a:t>WEEK 12 CRYPTOGRAPHY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58368" y="1115568"/>
            <a:ext cx="5303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300" b="1" dirty="0">
                <a:solidFill>
                  <a:srgbClr val="FFFFFF"/>
                </a:solidFill>
              </a:rPr>
              <a:t>VIC Cipher</a:t>
            </a:r>
            <a:endParaRPr lang="en-US" sz="4300" dirty="0"/>
          </a:p>
        </p:txBody>
      </p:sp>
      <p:sp>
        <p:nvSpPr>
          <p:cNvPr id="6" name="Text 4"/>
          <p:cNvSpPr/>
          <p:nvPr/>
        </p:nvSpPr>
        <p:spPr>
          <a:xfrm>
            <a:off x="704088" y="1874520"/>
            <a:ext cx="5303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D9E6FF"/>
                </a:solidFill>
              </a:rPr>
              <a:t>Cold War spy cryptography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D9E6FF"/>
                </a:solidFill>
              </a:rPr>
              <a:t>with a Python spy-app demo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6720840" y="868680"/>
            <a:ext cx="4434840" cy="3977640"/>
          </a:xfrm>
          <a:prstGeom prst="roundRect">
            <a:avLst>
              <a:gd name="adj" fmla="val 1379"/>
            </a:avLst>
          </a:prstGeom>
          <a:solidFill>
            <a:srgbClr val="0B1220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132320" y="1243584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EA5A7"/>
                </a:solidFill>
              </a:rPr>
              <a:t>PLAINTEXT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7114032" y="1527048"/>
            <a:ext cx="3200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MEET AT NOON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7132320" y="2359152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59E0B"/>
                </a:solidFill>
              </a:rPr>
              <a:t>SECRET KEY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7114032" y="2642616"/>
            <a:ext cx="3200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secret-1970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7132320" y="3474720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6A34A"/>
                </a:solidFill>
              </a:rPr>
              <a:t>CIPHERTEXT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7114032" y="3758184"/>
            <a:ext cx="3200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04 09 03 22 99 18</a:t>
            </a:r>
            <a:endParaRPr lang="en-US" sz="1700" dirty="0"/>
          </a:p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00 99 25 22 17 22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704088" y="5815584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Name / Student ID: ____________________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563EB"/>
                </a:solidFill>
              </a:rPr>
              <a:t>HISTORICAL CONTEXT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72033"/>
                </a:solidFill>
              </a:rPr>
              <a:t>What Is The VIC Cipher?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66928" y="1143000"/>
            <a:ext cx="8046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67085"/>
                </a:solidFill>
              </a:rPr>
              <a:t>A strong paper-and-pencil cipher used in Cold War espionage.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685800" y="1691640"/>
            <a:ext cx="3337560" cy="3383280"/>
          </a:xfrm>
          <a:prstGeom prst="roundRect">
            <a:avLst>
              <a:gd name="adj" fmla="val 1644"/>
            </a:avLst>
          </a:prstGeom>
          <a:solidFill>
            <a:srgbClr val="FFFFFF"/>
          </a:solidFill>
          <a:ln w="12700">
            <a:solidFill>
              <a:srgbClr val="D6DDE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434840" y="1691640"/>
            <a:ext cx="3337560" cy="3383280"/>
          </a:xfrm>
          <a:prstGeom prst="roundRect">
            <a:avLst>
              <a:gd name="adj" fmla="val 1644"/>
            </a:avLst>
          </a:prstGeom>
          <a:solidFill>
            <a:srgbClr val="FFFFFF"/>
          </a:solidFill>
          <a:ln w="12700">
            <a:solidFill>
              <a:srgbClr val="D6DDE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183880" y="1691640"/>
            <a:ext cx="3337560" cy="3383280"/>
          </a:xfrm>
          <a:prstGeom prst="roundRect">
            <a:avLst>
              <a:gd name="adj" fmla="val 1644"/>
            </a:avLst>
          </a:prstGeom>
          <a:solidFill>
            <a:srgbClr val="FFFFFF"/>
          </a:solidFill>
          <a:ln w="12700">
            <a:solidFill>
              <a:srgbClr val="D6DDE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87552" y="2057400"/>
            <a:ext cx="658368" cy="658368"/>
          </a:xfrm>
          <a:prstGeom prst="ellipse">
            <a:avLst/>
          </a:prstGeom>
          <a:solidFill>
            <a:srgbClr val="EAF1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97864" y="2240280"/>
            <a:ext cx="2194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563EB"/>
                </a:solidFill>
              </a:rPr>
              <a:t>1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005840" y="292608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72033"/>
                </a:solidFill>
              </a:rPr>
              <a:t>Cold War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005840" y="3429000"/>
            <a:ext cx="2606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667085"/>
                </a:solidFill>
              </a:rPr>
              <a:t>Secret communication mattered because messages could be intercepted.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736592" y="2057400"/>
            <a:ext cx="658368" cy="658368"/>
          </a:xfrm>
          <a:prstGeom prst="ellipse">
            <a:avLst/>
          </a:prstGeom>
          <a:solidFill>
            <a:srgbClr val="FFF5DA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46904" y="2240280"/>
            <a:ext cx="2194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59E0B"/>
                </a:solidFill>
              </a:rPr>
              <a:t>2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754880" y="292608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72033"/>
                </a:solidFill>
              </a:rPr>
              <a:t>Hand Cipher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4754880" y="3429000"/>
            <a:ext cx="2606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667085"/>
                </a:solidFill>
              </a:rPr>
              <a:t>It could be done without a computer, using numbers and written steps.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8485632" y="2057400"/>
            <a:ext cx="658368" cy="658368"/>
          </a:xfrm>
          <a:prstGeom prst="ellipse">
            <a:avLst/>
          </a:prstGeom>
          <a:solidFill>
            <a:srgbClr val="E7FAFA"/>
          </a:solidFill>
          <a:ln w="12700">
            <a:solidFill>
              <a:srgbClr val="0EA5A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695944" y="2240280"/>
            <a:ext cx="2194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EA5A7"/>
                </a:solidFill>
              </a:rPr>
              <a:t>3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8503920" y="292608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72033"/>
                </a:solidFill>
              </a:rPr>
              <a:t>Advanced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8503920" y="3429000"/>
            <a:ext cx="2606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667085"/>
                </a:solidFill>
              </a:rPr>
              <a:t>It combined multiple transformations, making analysis much harder.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02920" y="6492240"/>
            <a:ext cx="5029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7085"/>
                </a:solidFill>
              </a:rPr>
              <a:t>VIC Cipher / Spy App | Week 12 Cryptography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11064240" y="6492240"/>
            <a:ext cx="548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67085"/>
                </a:solidFill>
              </a:rPr>
              <a:t>02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563EB"/>
                </a:solidFill>
              </a:rPr>
              <a:t>WHY IT MATTERS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72033"/>
                </a:solidFill>
              </a:rPr>
              <a:t>Why Spies Used Ciphers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66928" y="1143000"/>
            <a:ext cx="8046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67085"/>
                </a:solidFill>
              </a:rPr>
              <a:t>The ciphertext should be useless to someone who does not have the key.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822960" y="1737360"/>
            <a:ext cx="4846320" cy="3200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172033"/>
                </a:solidFill>
              </a:rPr>
              <a:t>Protect secret messages during transmission.</a:t>
            </a:r>
            <a:endParaRPr lang="en-US" sz="1700" dirty="0"/>
          </a:p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172033"/>
                </a:solidFill>
              </a:rPr>
              <a:t>Make intercepted communication look like random number groups.</a:t>
            </a:r>
            <a:endParaRPr lang="en-US" sz="1700" dirty="0"/>
          </a:p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172033"/>
                </a:solidFill>
              </a:rPr>
              <a:t>Allow the receiver to recover the original message with shared secret information.</a:t>
            </a:r>
            <a:endParaRPr lang="en-US" sz="1700" dirty="0"/>
          </a:p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172033"/>
                </a:solidFill>
              </a:rPr>
              <a:t>Hide patterns so the message is harder to analyze.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6400800" y="1572768"/>
            <a:ext cx="4389120" cy="3566160"/>
          </a:xfrm>
          <a:prstGeom prst="roundRect">
            <a:avLst>
              <a:gd name="adj" fmla="val 1538"/>
            </a:avLst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12280" y="1920240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3C5FD"/>
                </a:solidFill>
              </a:rPr>
              <a:t>Intercepted message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784848" y="237744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04 09 03 22</a:t>
            </a:r>
            <a:endParaRPr lang="en-US" sz="2400" dirty="0"/>
          </a:p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99 18 00 99</a:t>
            </a:r>
            <a:endParaRPr lang="en-US" sz="2400" dirty="0"/>
          </a:p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25 22 17 22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6812280" y="3913632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D8E3F8"/>
                </a:solidFill>
              </a:rPr>
              <a:t>Without the key, these numbers should not reveal the message.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02920" y="6492240"/>
            <a:ext cx="5029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7085"/>
                </a:solidFill>
              </a:rPr>
              <a:t>VIC Cipher / Spy App | Week 12 Cryptography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11064240" y="6492240"/>
            <a:ext cx="548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67085"/>
                </a:solidFill>
              </a:rPr>
              <a:t>03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563EB"/>
                </a:solidFill>
              </a:rPr>
              <a:t>VOCABULARY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72033"/>
                </a:solidFill>
              </a:rPr>
              <a:t>Cryptography Terms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66928" y="1143000"/>
            <a:ext cx="8046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67085"/>
                </a:solidFill>
              </a:rPr>
              <a:t>These are the words I use during the demo.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777240" y="1691640"/>
            <a:ext cx="4572000" cy="1078992"/>
          </a:xfrm>
          <a:prstGeom prst="roundRect">
            <a:avLst>
              <a:gd name="adj" fmla="val 5085"/>
            </a:avLst>
          </a:prstGeom>
          <a:solidFill>
            <a:srgbClr val="FFFFFF"/>
          </a:solidFill>
          <a:ln w="12700">
            <a:solidFill>
              <a:srgbClr val="D6DDE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" y="1691640"/>
            <a:ext cx="109728" cy="107899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24712" y="192024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72033"/>
                </a:solidFill>
              </a:rPr>
              <a:t>Plaintext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124712" y="2286000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67085"/>
                </a:solidFill>
              </a:rPr>
              <a:t>Readable original message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126480" y="1691640"/>
            <a:ext cx="4572000" cy="1078992"/>
          </a:xfrm>
          <a:prstGeom prst="roundRect">
            <a:avLst>
              <a:gd name="adj" fmla="val 5085"/>
            </a:avLst>
          </a:prstGeom>
          <a:solidFill>
            <a:srgbClr val="FFFFFF"/>
          </a:solidFill>
          <a:ln w="12700">
            <a:solidFill>
              <a:srgbClr val="D6DDE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126480" y="1691640"/>
            <a:ext cx="109728" cy="107899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73952" y="192024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72033"/>
                </a:solidFill>
              </a:rPr>
              <a:t>Ciphertext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473952" y="2286000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67085"/>
                </a:solidFill>
              </a:rPr>
              <a:t>Encrypted protected message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777240" y="3291840"/>
            <a:ext cx="4572000" cy="1078992"/>
          </a:xfrm>
          <a:prstGeom prst="roundRect">
            <a:avLst>
              <a:gd name="adj" fmla="val 5085"/>
            </a:avLst>
          </a:prstGeom>
          <a:solidFill>
            <a:srgbClr val="FFFFFF"/>
          </a:solidFill>
          <a:ln w="12700">
            <a:solidFill>
              <a:srgbClr val="D6DDE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77240" y="3291840"/>
            <a:ext cx="109728" cy="107899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124712" y="352044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72033"/>
                </a:solidFill>
              </a:rPr>
              <a:t>Key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124712" y="3886200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67085"/>
                </a:solidFill>
              </a:rPr>
              <a:t>Secret needed to decrypt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126480" y="3291840"/>
            <a:ext cx="4572000" cy="1078992"/>
          </a:xfrm>
          <a:prstGeom prst="roundRect">
            <a:avLst>
              <a:gd name="adj" fmla="val 5085"/>
            </a:avLst>
          </a:prstGeom>
          <a:solidFill>
            <a:srgbClr val="FFFFFF"/>
          </a:solidFill>
          <a:ln w="12700">
            <a:solidFill>
              <a:srgbClr val="D6DDE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126480" y="3291840"/>
            <a:ext cx="109728" cy="1078992"/>
          </a:xfrm>
          <a:prstGeom prst="rect">
            <a:avLst/>
          </a:prstGeom>
          <a:solidFill>
            <a:srgbClr val="0EA5A7"/>
          </a:solidFill>
          <a:ln w="12700">
            <a:solidFill>
              <a:srgbClr val="0EA5A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73952" y="352044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72033"/>
                </a:solidFill>
              </a:rPr>
              <a:t>Decryption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6473952" y="3886200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67085"/>
                </a:solidFill>
              </a:rPr>
              <a:t>Turning ciphertext back into plaintext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502920" y="6492240"/>
            <a:ext cx="5029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7085"/>
                </a:solidFill>
              </a:rPr>
              <a:t>VIC Cipher / Spy App | Week 12 Cryptography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11064240" y="6492240"/>
            <a:ext cx="548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67085"/>
                </a:solidFill>
              </a:rPr>
              <a:t>04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563EB"/>
                </a:solidFill>
              </a:rPr>
              <a:t>PROCESS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72033"/>
                </a:solidFill>
              </a:rPr>
              <a:t>VIC Cipher At A High Level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66928" y="1143000"/>
            <a:ext cx="8046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67085"/>
                </a:solidFill>
              </a:rPr>
              <a:t>The historical cipher is complex; this is the understandable class version.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594360" y="2011680"/>
            <a:ext cx="1828800" cy="1097280"/>
          </a:xfrm>
          <a:prstGeom prst="roundRect">
            <a:avLst>
              <a:gd name="adj" fmla="val 5000"/>
            </a:avLst>
          </a:prstGeom>
          <a:solidFill>
            <a:srgbClr val="F5F7FB"/>
          </a:solidFill>
          <a:ln w="15240">
            <a:solidFill>
              <a:srgbClr val="F59E0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2148840"/>
            <a:ext cx="23774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</a:rPr>
              <a:t>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914400" y="2350008"/>
            <a:ext cx="1143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172033"/>
                </a:solidFill>
              </a:rPr>
              <a:t>Secret key material</a:t>
            </a:r>
            <a:endParaRPr lang="en-US" sz="1220" dirty="0"/>
          </a:p>
        </p:txBody>
      </p:sp>
      <p:sp>
        <p:nvSpPr>
          <p:cNvPr id="8" name="Text 6"/>
          <p:cNvSpPr/>
          <p:nvPr/>
        </p:nvSpPr>
        <p:spPr>
          <a:xfrm>
            <a:off x="2496312" y="2359152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667085"/>
                </a:solidFill>
              </a:rPr>
              <a:t>→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862072" y="2011680"/>
            <a:ext cx="1828800" cy="1097280"/>
          </a:xfrm>
          <a:prstGeom prst="roundRect">
            <a:avLst>
              <a:gd name="adj" fmla="val 5000"/>
            </a:avLst>
          </a:prstGeom>
          <a:solidFill>
            <a:srgbClr val="F5F7FB"/>
          </a:solidFill>
          <a:ln w="15240">
            <a:solidFill>
              <a:srgbClr val="0EA5A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999232" y="2148840"/>
            <a:ext cx="23774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EA5A7"/>
                </a:solidFill>
              </a:rPr>
              <a:t>2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182112" y="2350008"/>
            <a:ext cx="1143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172033"/>
                </a:solidFill>
              </a:rPr>
              <a:t>Generate number sequences</a:t>
            </a:r>
            <a:endParaRPr lang="en-US" sz="1220" dirty="0"/>
          </a:p>
        </p:txBody>
      </p:sp>
      <p:sp>
        <p:nvSpPr>
          <p:cNvPr id="12" name="Text 10"/>
          <p:cNvSpPr/>
          <p:nvPr/>
        </p:nvSpPr>
        <p:spPr>
          <a:xfrm>
            <a:off x="4764024" y="2359152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667085"/>
                </a:solidFill>
              </a:rPr>
              <a:t>→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5129784" y="2011680"/>
            <a:ext cx="1828800" cy="1097280"/>
          </a:xfrm>
          <a:prstGeom prst="roundRect">
            <a:avLst>
              <a:gd name="adj" fmla="val 5000"/>
            </a:avLst>
          </a:prstGeom>
          <a:solidFill>
            <a:srgbClr val="F5F7FB"/>
          </a:solidFill>
          <a:ln w="15240">
            <a:solidFill>
              <a:srgbClr val="2563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266944" y="2148840"/>
            <a:ext cx="23774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563EB"/>
                </a:solidFill>
              </a:rPr>
              <a:t>3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449824" y="2350008"/>
            <a:ext cx="1143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172033"/>
                </a:solidFill>
              </a:rPr>
              <a:t>Convert message into numbers</a:t>
            </a:r>
            <a:endParaRPr lang="en-US" sz="1220" dirty="0"/>
          </a:p>
        </p:txBody>
      </p:sp>
      <p:sp>
        <p:nvSpPr>
          <p:cNvPr id="16" name="Text 14"/>
          <p:cNvSpPr/>
          <p:nvPr/>
        </p:nvSpPr>
        <p:spPr>
          <a:xfrm>
            <a:off x="7031736" y="2359152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667085"/>
                </a:solidFill>
              </a:rPr>
              <a:t>→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7397496" y="2011680"/>
            <a:ext cx="1828800" cy="1097280"/>
          </a:xfrm>
          <a:prstGeom prst="roundRect">
            <a:avLst>
              <a:gd name="adj" fmla="val 5000"/>
            </a:avLst>
          </a:prstGeom>
          <a:solidFill>
            <a:srgbClr val="F5F7FB"/>
          </a:solidFill>
          <a:ln w="15240">
            <a:solidFill>
              <a:srgbClr val="6D28D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534656" y="2148840"/>
            <a:ext cx="23774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D28D9"/>
                </a:solidFill>
              </a:rPr>
              <a:t>4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7717536" y="2350008"/>
            <a:ext cx="1143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172033"/>
                </a:solidFill>
              </a:rPr>
              <a:t>Substitute + transpose</a:t>
            </a:r>
            <a:endParaRPr lang="en-US" sz="1220" dirty="0"/>
          </a:p>
        </p:txBody>
      </p:sp>
      <p:sp>
        <p:nvSpPr>
          <p:cNvPr id="20" name="Text 18"/>
          <p:cNvSpPr/>
          <p:nvPr/>
        </p:nvSpPr>
        <p:spPr>
          <a:xfrm>
            <a:off x="9299448" y="2359152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667085"/>
                </a:solidFill>
              </a:rPr>
              <a:t>→</a:t>
            </a:r>
            <a:endParaRPr lang="en-US" sz="2000" dirty="0"/>
          </a:p>
        </p:txBody>
      </p:sp>
      <p:sp>
        <p:nvSpPr>
          <p:cNvPr id="21" name="Shape 19"/>
          <p:cNvSpPr/>
          <p:nvPr/>
        </p:nvSpPr>
        <p:spPr>
          <a:xfrm>
            <a:off x="9665208" y="2011680"/>
            <a:ext cx="1828800" cy="1097280"/>
          </a:xfrm>
          <a:prstGeom prst="roundRect">
            <a:avLst>
              <a:gd name="adj" fmla="val 5000"/>
            </a:avLst>
          </a:prstGeom>
          <a:solidFill>
            <a:srgbClr val="F5F7FB"/>
          </a:solidFill>
          <a:ln w="15240">
            <a:solidFill>
              <a:srgbClr val="16A3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802368" y="2148840"/>
            <a:ext cx="23774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6A34A"/>
                </a:solidFill>
              </a:rPr>
              <a:t>5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9985248" y="2350008"/>
            <a:ext cx="1143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172033"/>
                </a:solidFill>
              </a:rPr>
              <a:t>Send encrypted groups</a:t>
            </a:r>
            <a:endParaRPr lang="en-US" sz="1220" dirty="0"/>
          </a:p>
        </p:txBody>
      </p:sp>
      <p:sp>
        <p:nvSpPr>
          <p:cNvPr id="24" name="Shape 22"/>
          <p:cNvSpPr/>
          <p:nvPr/>
        </p:nvSpPr>
        <p:spPr>
          <a:xfrm>
            <a:off x="1325880" y="4160520"/>
            <a:ext cx="9326880" cy="731520"/>
          </a:xfrm>
          <a:prstGeom prst="roundRect">
            <a:avLst>
              <a:gd name="adj" fmla="val 7500"/>
            </a:avLst>
          </a:prstGeom>
          <a:solidFill>
            <a:srgbClr val="EAF1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691640" y="4425696"/>
            <a:ext cx="8503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72033"/>
                </a:solidFill>
              </a:rPr>
              <a:t>Simple explanation: the key controls how the message is changed, and the same key is required to reverse it.</a:t>
            </a:r>
            <a:endParaRPr lang="en-US" sz="1450" dirty="0"/>
          </a:p>
        </p:txBody>
      </p:sp>
      <p:sp>
        <p:nvSpPr>
          <p:cNvPr id="26" name="Text 24"/>
          <p:cNvSpPr/>
          <p:nvPr/>
        </p:nvSpPr>
        <p:spPr>
          <a:xfrm>
            <a:off x="502920" y="6492240"/>
            <a:ext cx="5029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7085"/>
                </a:solidFill>
              </a:rPr>
              <a:t>VIC Cipher / Spy App | Week 12 Cryptography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11064240" y="6492240"/>
            <a:ext cx="548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67085"/>
                </a:solidFill>
              </a:rPr>
              <a:t>05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563EB"/>
                </a:solidFill>
              </a:rPr>
              <a:t>MY BUILD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72033"/>
                </a:solidFill>
              </a:rPr>
              <a:t>Python Spy App Demo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66928" y="1143000"/>
            <a:ext cx="8046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67085"/>
                </a:solidFill>
              </a:rPr>
              <a:t>A simplified VIC-inspired demo, made for education.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777240" y="1600200"/>
            <a:ext cx="4754880" cy="3566160"/>
          </a:xfrm>
          <a:prstGeom prst="roundRect">
            <a:avLst>
              <a:gd name="adj" fmla="val 1538"/>
            </a:avLst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97280" y="1901952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93C5FD"/>
                </a:solidFill>
              </a:rPr>
              <a:t>Message + Secret Key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97280" y="2331720"/>
            <a:ext cx="397764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encrypt(message, key)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MEET AT NOON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secret-1970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→ 04 09 03 22 99 18 00 99 25 22 17 22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446520" y="1828800"/>
            <a:ext cx="4297680" cy="2926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172033"/>
                </a:solidFill>
              </a:rPr>
              <a:t>Cleans the message into uppercase letters.</a:t>
            </a:r>
            <a:endParaRPr lang="en-US" sz="1600" dirty="0"/>
          </a:p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172033"/>
                </a:solidFill>
              </a:rPr>
              <a:t>Creates repeatable key-based number shifts.</a:t>
            </a:r>
            <a:endParaRPr lang="en-US" sz="1600" dirty="0"/>
          </a:p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172033"/>
                </a:solidFill>
              </a:rPr>
              <a:t>Outputs two-digit encrypted number groups.</a:t>
            </a:r>
            <a:endParaRPr lang="en-US" sz="1600" dirty="0"/>
          </a:p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172033"/>
                </a:solidFill>
              </a:rPr>
              <a:t>Uses the same key to decrypt the message.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02920" y="6492240"/>
            <a:ext cx="5029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7085"/>
                </a:solidFill>
              </a:rPr>
              <a:t>VIC Cipher / Spy App | Week 12 Cryptography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11064240" y="6492240"/>
            <a:ext cx="548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67085"/>
                </a:solidFill>
              </a:rPr>
              <a:t>06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563EB"/>
                </a:solidFill>
              </a:rPr>
              <a:t>LIVE PROOF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72033"/>
                </a:solidFill>
              </a:rPr>
              <a:t>Correct Key vs Wrong Key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66928" y="1143000"/>
            <a:ext cx="8046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67085"/>
                </a:solidFill>
              </a:rPr>
              <a:t>Your terminal output shows that the demo actually works.</a:t>
            </a:r>
            <a:endParaRPr lang="en-US" sz="1150" dirty="0"/>
          </a:p>
        </p:txBody>
      </p:sp>
      <p:pic>
        <p:nvPicPr>
          <p:cNvPr id="5" name="Image 0" descr="/var/folders/9k/3m2xb_ks5pj0v11brs_0ndfm0000gn/T/TemporaryItems/NSIRD_screencaptureui_0jrSmg/Screenshot 2026-05-17 at 11.28.52 P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417320"/>
            <a:ext cx="6995160" cy="393192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909560" y="1600200"/>
            <a:ext cx="3291840" cy="749808"/>
          </a:xfrm>
          <a:prstGeom prst="roundRect">
            <a:avLst>
              <a:gd name="adj" fmla="val 7317"/>
            </a:avLst>
          </a:prstGeom>
          <a:solidFill>
            <a:srgbClr val="F5F7F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183880" y="1755648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563EB"/>
                </a:solidFill>
              </a:rPr>
              <a:t>Encrypt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8183880" y="1984248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72033"/>
                </a:solidFill>
              </a:rPr>
              <a:t>Message becomes number groups.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7909560" y="2715768"/>
            <a:ext cx="3291840" cy="749808"/>
          </a:xfrm>
          <a:prstGeom prst="roundRect">
            <a:avLst>
              <a:gd name="adj" fmla="val 7317"/>
            </a:avLst>
          </a:prstGeom>
          <a:solidFill>
            <a:srgbClr val="F5F7FB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183880" y="2871216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A34A"/>
                </a:solidFill>
              </a:rPr>
              <a:t>Correct key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8183880" y="3099816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72033"/>
                </a:solidFill>
              </a:rPr>
              <a:t>Returns MEET AT NOON.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7909560" y="3831336"/>
            <a:ext cx="3291840" cy="749808"/>
          </a:xfrm>
          <a:prstGeom prst="roundRect">
            <a:avLst>
              <a:gd name="adj" fmla="val 7317"/>
            </a:avLst>
          </a:prstGeom>
          <a:solidFill>
            <a:srgbClr val="F5F7FB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183880" y="3986784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C2626"/>
                </a:solidFill>
              </a:rPr>
              <a:t>Wrong key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8183880" y="4215384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72033"/>
                </a:solidFill>
              </a:rPr>
              <a:t>Returns unreadable text.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502920" y="6492240"/>
            <a:ext cx="5029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7085"/>
                </a:solidFill>
              </a:rPr>
              <a:t>VIC Cipher / Spy App | Week 12 Cryptography</a:t>
            </a:r>
            <a:endParaRPr lang="en-US" sz="750" dirty="0"/>
          </a:p>
        </p:txBody>
      </p:sp>
      <p:sp>
        <p:nvSpPr>
          <p:cNvPr id="16" name="Text 13"/>
          <p:cNvSpPr/>
          <p:nvPr/>
        </p:nvSpPr>
        <p:spPr>
          <a:xfrm>
            <a:off x="11064240" y="6492240"/>
            <a:ext cx="548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67085"/>
                </a:solidFill>
              </a:rPr>
              <a:t>07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563EB"/>
                </a:solidFill>
              </a:rPr>
              <a:t>SECURITY ANALYSIS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72033"/>
                </a:solidFill>
              </a:rPr>
              <a:t>What The Demo Proves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66928" y="1143000"/>
            <a:ext cx="8046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67085"/>
                </a:solidFill>
              </a:rPr>
              <a:t>The most important lesson is key dependency.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777240" y="1645920"/>
            <a:ext cx="4572000" cy="1024128"/>
          </a:xfrm>
          <a:prstGeom prst="roundRect">
            <a:avLst>
              <a:gd name="adj" fmla="val 5357"/>
            </a:avLst>
          </a:prstGeom>
          <a:solidFill>
            <a:srgbClr val="FFFFFF"/>
          </a:solidFill>
          <a:ln w="12700">
            <a:solidFill>
              <a:srgbClr val="D6DDE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97280" y="1874520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563EB"/>
                </a:solidFill>
              </a:rPr>
              <a:t>Confidentiality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097280" y="2240280"/>
            <a:ext cx="3566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67085"/>
                </a:solidFill>
              </a:rPr>
              <a:t>The output hides the original words.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126480" y="1645920"/>
            <a:ext cx="4572000" cy="1024128"/>
          </a:xfrm>
          <a:prstGeom prst="roundRect">
            <a:avLst>
              <a:gd name="adj" fmla="val 5357"/>
            </a:avLst>
          </a:prstGeom>
          <a:solidFill>
            <a:srgbClr val="FFFFFF"/>
          </a:solidFill>
          <a:ln w="12700">
            <a:solidFill>
              <a:srgbClr val="D6DDE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46520" y="1874520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A34A"/>
                </a:solidFill>
              </a:rPr>
              <a:t>Key dependency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6446520" y="2240280"/>
            <a:ext cx="3566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67085"/>
                </a:solidFill>
              </a:rPr>
              <a:t>Correct key works; wrong key fails.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777240" y="3200400"/>
            <a:ext cx="4572000" cy="1024128"/>
          </a:xfrm>
          <a:prstGeom prst="roundRect">
            <a:avLst>
              <a:gd name="adj" fmla="val 5357"/>
            </a:avLst>
          </a:prstGeom>
          <a:solidFill>
            <a:srgbClr val="FFFFFF"/>
          </a:solidFill>
          <a:ln w="12700">
            <a:solidFill>
              <a:srgbClr val="D6DDE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97280" y="3429000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6D28D9"/>
                </a:solidFill>
              </a:rPr>
              <a:t>Pattern hiding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1097280" y="3794760"/>
            <a:ext cx="3566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67085"/>
                </a:solidFill>
              </a:rPr>
              <a:t>The message becomes number groups.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126480" y="3200400"/>
            <a:ext cx="4572000" cy="1024128"/>
          </a:xfrm>
          <a:prstGeom prst="roundRect">
            <a:avLst>
              <a:gd name="adj" fmla="val 5357"/>
            </a:avLst>
          </a:prstGeom>
          <a:solidFill>
            <a:srgbClr val="FFFFFF"/>
          </a:solidFill>
          <a:ln w="12700">
            <a:solidFill>
              <a:srgbClr val="D6DDE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46520" y="3429000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DC2626"/>
                </a:solidFill>
              </a:rPr>
              <a:t>Education only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6446520" y="3794760"/>
            <a:ext cx="3566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67085"/>
                </a:solidFill>
              </a:rPr>
              <a:t>Not for real-world secure messaging.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502920" y="6492240"/>
            <a:ext cx="5029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7085"/>
                </a:solidFill>
              </a:rPr>
              <a:t>VIC Cipher / Spy App | Week 12 Cryptography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11064240" y="6492240"/>
            <a:ext cx="548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67085"/>
                </a:solidFill>
              </a:rPr>
              <a:t>08</a:t>
            </a:r>
            <a:endParaRPr lang="en-US" sz="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563EB"/>
                </a:solidFill>
              </a:rPr>
              <a:t>ETHICS AND LIMITS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72033"/>
                </a:solidFill>
              </a:rPr>
              <a:t>What This Is Not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66928" y="1143000"/>
            <a:ext cx="8046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67085"/>
                </a:solidFill>
              </a:rPr>
              <a:t>A good security presentation also explains boundaries.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822960" y="1691640"/>
            <a:ext cx="4937760" cy="3246120"/>
          </a:xfrm>
          <a:prstGeom prst="roundRect">
            <a:avLst>
              <a:gd name="adj" fmla="val 1690"/>
            </a:avLst>
          </a:prstGeom>
          <a:solidFill>
            <a:srgbClr val="FDECEC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43000" y="205740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DC2626"/>
                </a:solidFill>
              </a:rPr>
              <a:t>Limitations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1170432" y="2651760"/>
            <a:ext cx="3840480" cy="1554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400" dirty="0">
                <a:solidFill>
                  <a:srgbClr val="172033"/>
                </a:solidFill>
              </a:rPr>
              <a:t>Not the full historical VIC cipher.</a:t>
            </a:r>
            <a:endParaRPr lang="en-US" sz="1400" dirty="0"/>
          </a:p>
          <a:p>
            <a:pPr marL="177800" indent="-177800">
              <a:buSzPct val="100000"/>
              <a:buChar char="•"/>
            </a:pPr>
            <a:r>
              <a:rPr lang="en-US" sz="1400" dirty="0">
                <a:solidFill>
                  <a:srgbClr val="172033"/>
                </a:solidFill>
              </a:rPr>
              <a:t>Not secure enough for real private messages.</a:t>
            </a:r>
            <a:endParaRPr lang="en-US" sz="1400" dirty="0"/>
          </a:p>
          <a:p>
            <a:pPr marL="177800" indent="-177800">
              <a:buSzPct val="100000"/>
              <a:buChar char="•"/>
            </a:pPr>
            <a:r>
              <a:rPr lang="en-US" sz="1400" dirty="0">
                <a:solidFill>
                  <a:srgbClr val="172033"/>
                </a:solidFill>
              </a:rPr>
              <a:t>Modern systems use reviewed algorithms like AES, RSA, and ECC.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446520" y="1691640"/>
            <a:ext cx="4937760" cy="3246120"/>
          </a:xfrm>
          <a:prstGeom prst="roundRect">
            <a:avLst>
              <a:gd name="adj" fmla="val 1690"/>
            </a:avLst>
          </a:prstGeom>
          <a:solidFill>
            <a:srgbClr val="EAF8EF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766560" y="20574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6A34A"/>
                </a:solidFill>
              </a:rPr>
              <a:t>Ethics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6793992" y="2651760"/>
            <a:ext cx="3749040" cy="1554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400" dirty="0">
                <a:solidFill>
                  <a:srgbClr val="172033"/>
                </a:solidFill>
              </a:rPr>
              <a:t>Use cryptography to protect privacy and security.</a:t>
            </a:r>
            <a:endParaRPr lang="en-US" sz="1400" dirty="0"/>
          </a:p>
          <a:p>
            <a:pPr marL="177800" indent="-177800">
              <a:buSzPct val="100000"/>
              <a:buChar char="•"/>
            </a:pPr>
            <a:r>
              <a:rPr lang="en-US" sz="1400" dirty="0">
                <a:solidFill>
                  <a:srgbClr val="172033"/>
                </a:solidFill>
              </a:rPr>
              <a:t>Keep demos educational and authorized.</a:t>
            </a:r>
            <a:endParaRPr lang="en-US" sz="1400" dirty="0"/>
          </a:p>
          <a:p>
            <a:pPr marL="177800" indent="-177800">
              <a:buSzPct val="100000"/>
              <a:buChar char="•"/>
            </a:pPr>
            <a:r>
              <a:rPr lang="en-US" sz="1400" dirty="0">
                <a:solidFill>
                  <a:srgbClr val="172033"/>
                </a:solidFill>
              </a:rPr>
              <a:t>Explain risks honestly instead of overstating claims.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02920" y="6492240"/>
            <a:ext cx="5029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7085"/>
                </a:solidFill>
              </a:rPr>
              <a:t>VIC Cipher / Spy App | Week 12 Cryptography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11064240" y="6492240"/>
            <a:ext cx="548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67085"/>
                </a:solidFill>
              </a:rPr>
              <a:t>09</a:t>
            </a:r>
            <a:endParaRPr lang="en-US" sz="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777240"/>
            <a:ext cx="3931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Conclusion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731520" y="1600200"/>
            <a:ext cx="7498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E5EDFF"/>
                </a:solidFill>
              </a:rPr>
              <a:t>The VIC cipher shows that cryptography was powerful before modern computers.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960120" y="2514600"/>
            <a:ext cx="5852160" cy="20116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900" dirty="0">
                <a:solidFill>
                  <a:srgbClr val="172033"/>
                </a:solidFill>
              </a:rPr>
              <a:t>Historical ciphers used secret keys and layered transformations.</a:t>
            </a:r>
            <a:endParaRPr lang="en-US" sz="1900" dirty="0"/>
          </a:p>
          <a:p>
            <a:pPr marL="177800" indent="-177800">
              <a:buSzPct val="100000"/>
              <a:buChar char="•"/>
            </a:pPr>
            <a:r>
              <a:rPr lang="en-US" sz="1900" dirty="0">
                <a:solidFill>
                  <a:srgbClr val="172033"/>
                </a:solidFill>
              </a:rPr>
              <a:t>My Python app demonstrates the core idea safely.</a:t>
            </a:r>
            <a:endParaRPr lang="en-US" sz="1900" dirty="0"/>
          </a:p>
          <a:p>
            <a:pPr marL="177800" indent="-177800">
              <a:buSzPct val="100000"/>
              <a:buChar char="•"/>
            </a:pPr>
            <a:r>
              <a:rPr lang="en-US" sz="1900" dirty="0">
                <a:solidFill>
                  <a:srgbClr val="172033"/>
                </a:solidFill>
              </a:rPr>
              <a:t>The correct key recovers the message; the wrong key does not.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7772400" y="2057400"/>
            <a:ext cx="3291840" cy="2057400"/>
          </a:xfrm>
          <a:prstGeom prst="roundRect">
            <a:avLst>
              <a:gd name="adj" fmla="val 2667"/>
            </a:avLst>
          </a:prstGeom>
          <a:solidFill>
            <a:srgbClr val="0B1220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119872" y="2404872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7E8F9"/>
                </a:solidFill>
              </a:rPr>
              <a:t>Final line to say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119872" y="283464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Without the correct key, ciphertext should not reveal the original message.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13232" y="583387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7E8F9"/>
                </a:solidFill>
              </a:rPr>
              <a:t>Thank you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Information Security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VIC Cipher: Cold War Spy Cryptography</dc:title>
  <dc:subject>VIC Cipher / Spy App</dc:subject>
  <dc:creator>Team 6 Individual Submission</dc:creator>
  <cp:lastModifiedBy>Team 6 Individual Submission</cp:lastModifiedBy>
  <cp:revision>1</cp:revision>
  <dcterms:created xsi:type="dcterms:W3CDTF">2026-05-17T14:37:27Z</dcterms:created>
  <dcterms:modified xsi:type="dcterms:W3CDTF">2026-05-17T14:37:27Z</dcterms:modified>
</cp:coreProperties>
</file>