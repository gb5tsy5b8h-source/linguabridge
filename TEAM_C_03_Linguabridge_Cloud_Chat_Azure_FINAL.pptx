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5bbba7ddd14819" /><Relationship Type="http://schemas.openxmlformats.org/officeDocument/2006/relationships/extended-properties" Target="/docProps/app.xml" Id="Rd6451d9d6b8c4f5c" /><Relationship Type="http://schemas.openxmlformats.org/officeDocument/2006/relationships/officeDocument" Target="/ppt/presentation.xml" Id="R4ad3ed0dc5cb44be" /></Relationships>
</file>

<file path=ppt/presentation.xml><?xml version="1.0" encoding="utf-8"?>
<p:presentation xmlns:p="http://schemas.openxmlformats.org/presentationml/2006/main">
  <p:sldMasterIdLst>
    <p:sldMasterId xmlns:r="http://schemas.openxmlformats.org/officeDocument/2006/relationships" id="2147483648" r:id="Rf2847f49ca584133"/>
  </p:sldMasterIdLst>
  <p:notesMasterIdLst>
    <p:notesMasterId xmlns:r="http://schemas.openxmlformats.org/officeDocument/2006/relationships" r:id="Rbf1a3d6a13574311"/>
  </p:notesMasterIdLst>
  <p:sldIdLst>
    <p:sldId xmlns:r="http://schemas.openxmlformats.org/officeDocument/2006/relationships" id="256" r:id="Rbec56a9aae754f45"/>
    <p:sldId xmlns:r="http://schemas.openxmlformats.org/officeDocument/2006/relationships" id="257" r:id="R75de1399948c410b"/>
    <p:sldId xmlns:r="http://schemas.openxmlformats.org/officeDocument/2006/relationships" id="258" r:id="Rd2ae87e06c0f4480"/>
    <p:sldId xmlns:r="http://schemas.openxmlformats.org/officeDocument/2006/relationships" id="259" r:id="Rcae933cd10f44d1c"/>
    <p:sldId xmlns:r="http://schemas.openxmlformats.org/officeDocument/2006/relationships" id="260" r:id="R314f77ea7376403c"/>
    <p:sldId xmlns:r="http://schemas.openxmlformats.org/officeDocument/2006/relationships" id="261" r:id="R512c1845fd2b401f"/>
    <p:sldId xmlns:r="http://schemas.openxmlformats.org/officeDocument/2006/relationships" id="262" r:id="R442153515b6840a0"/>
    <p:sldId xmlns:r="http://schemas.openxmlformats.org/officeDocument/2006/relationships" id="263" r:id="R04fb15f60fc74ca1"/>
    <p:sldId xmlns:r="http://schemas.openxmlformats.org/officeDocument/2006/relationships" id="264" r:id="Rdb71da3cd69a4042"/>
    <p:sldId xmlns:r="http://schemas.openxmlformats.org/officeDocument/2006/relationships" id="265" r:id="R3d0f490efec0453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e21f83cc0304e77" /><Relationship Type="http://schemas.openxmlformats.org/officeDocument/2006/relationships/slideMaster" Target="/ppt/slideMasters/slideMaster1.xml" Id="Rf2847f49ca584133" /><Relationship Type="http://schemas.openxmlformats.org/officeDocument/2006/relationships/notesMaster" Target="/ppt/notesMasters/notesMaster1.xml" Id="Rbf1a3d6a13574311" /><Relationship Type="http://schemas.openxmlformats.org/officeDocument/2006/relationships/presProps" Target="/ppt/presProps.xml" Id="R284138ba6662487a" /><Relationship Type="http://schemas.openxmlformats.org/officeDocument/2006/relationships/viewProps" Target="/ppt/viewProps.xml" Id="R2f758c26654b458f" /><Relationship Type="http://schemas.openxmlformats.org/officeDocument/2006/relationships/tableStyles" Target="/ppt/tableStyles.xml" Id="R6135123179304923" /><Relationship Type="http://schemas.openxmlformats.org/officeDocument/2006/relationships/slide" Target="/ppt/slides/slide1.xml" Id="Rbec56a9aae754f45" /><Relationship Type="http://schemas.openxmlformats.org/officeDocument/2006/relationships/slide" Target="/ppt/slides/slide2.xml" Id="R75de1399948c410b" /><Relationship Type="http://schemas.openxmlformats.org/officeDocument/2006/relationships/slide" Target="/ppt/slides/slide3.xml" Id="Rd2ae87e06c0f4480" /><Relationship Type="http://schemas.openxmlformats.org/officeDocument/2006/relationships/slide" Target="/ppt/slides/slide4.xml" Id="Rcae933cd10f44d1c" /><Relationship Type="http://schemas.openxmlformats.org/officeDocument/2006/relationships/slide" Target="/ppt/slides/slide5.xml" Id="R314f77ea7376403c" /><Relationship Type="http://schemas.openxmlformats.org/officeDocument/2006/relationships/slide" Target="/ppt/slides/slide6.xml" Id="R512c1845fd2b401f" /><Relationship Type="http://schemas.openxmlformats.org/officeDocument/2006/relationships/slide" Target="/ppt/slides/slide7.xml" Id="R442153515b6840a0" /><Relationship Type="http://schemas.openxmlformats.org/officeDocument/2006/relationships/slide" Target="/ppt/slides/slide8.xml" Id="R04fb15f60fc74ca1" /><Relationship Type="http://schemas.openxmlformats.org/officeDocument/2006/relationships/slide" Target="/ppt/slides/slide9.xml" Id="Rdb71da3cd69a4042" /><Relationship Type="http://schemas.openxmlformats.org/officeDocument/2006/relationships/slide" Target="/ppt/slides/slide10.xml" Id="R3d0f490efec045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d661d896a84b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15d7278eb943cc" /><Relationship Type="http://schemas.openxmlformats.org/officeDocument/2006/relationships/notesMaster" Target="/ppt/notesMasters/notesMaster1.xml" Id="R0ea4ed0b1c8940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ab7c2b484b4706" /><Relationship Type="http://schemas.openxmlformats.org/officeDocument/2006/relationships/notesMaster" Target="/ppt/notesMasters/notesMaster1.xml" Id="Rf0ddb25cd54c44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df2773c6674f15" /><Relationship Type="http://schemas.openxmlformats.org/officeDocument/2006/relationships/notesMaster" Target="/ppt/notesMasters/notesMaster1.xml" Id="R1bfd229b89514e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e53a494cc84fb6" /><Relationship Type="http://schemas.openxmlformats.org/officeDocument/2006/relationships/notesMaster" Target="/ppt/notesMasters/notesMaster1.xml" Id="Rc0934553d85746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23963bce9f4a85" /><Relationship Type="http://schemas.openxmlformats.org/officeDocument/2006/relationships/notesMaster" Target="/ppt/notesMasters/notesMaster1.xml" Id="Rb17f7053eab845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e94bbc59af4b70" /><Relationship Type="http://schemas.openxmlformats.org/officeDocument/2006/relationships/notesMaster" Target="/ppt/notesMasters/notesMaster1.xml" Id="R20a37246e0e14c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50f0c11cdb4f29" /><Relationship Type="http://schemas.openxmlformats.org/officeDocument/2006/relationships/notesMaster" Target="/ppt/notesMasters/notesMaster1.xml" Id="R8acc7798ff184f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b84f8b6b3d4662" /><Relationship Type="http://schemas.openxmlformats.org/officeDocument/2006/relationships/notesMaster" Target="/ppt/notesMasters/notesMaster1.xml" Id="Re9f4bc32089944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97548cf3144ddd" /><Relationship Type="http://schemas.openxmlformats.org/officeDocument/2006/relationships/notesMaster" Target="/ppt/notesMasters/notesMaster1.xml" Id="R7d4b265e93c140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afc93b22474ed9" /><Relationship Type="http://schemas.openxmlformats.org/officeDocument/2006/relationships/notesMaster" Target="/ppt/notesMasters/notesMaster1.xml" Id="Rdb3242e490f945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Linguabridge as a software engineering and cloud AI project, not just a chat UI. The key idea is simple: people write naturally in their own language, while each receiver reads the conversation in their selected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around real collaboration: international classrooms, distributed teams, and cloud project reviews. The issue is not only translation accuracy; it is the loss of context, speed, and shared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product in one sentence: it is a multilingual chat platform where messages are stored once, translated for each receiver, and summarized for review. Mention that the current version now integrates Azure Translator while keeping a fallback for demo reliability.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architecture from left to right. The browser sends messages to the backend. The backend calls Azure Translator Text API, stores the original message and generated translations, and falls back safely if the API is unavailable. In production, memory storage can become Azure Cosmos DB.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live classroom scenario. Rayhan can write in Bangla, Jisu in Korean, Ahmed in Arabic, and Priya in Hindi. The UI makes the system feel like a real-time cloud app with status indicators and immediate message rendering.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receiver-specific translation. The message is not simply converted once. The backend stores translated versions so Korean, English, Arabic, and other users can each see the same message in their own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every message includes metadata. This is important for debugging, auditability, and future database design. The JSON export proves the conversation has a structured backend representation.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the summary as an AI productivity feature. For the checkpoint, it uses a local mock summarizer. In the final architecture, this can be powered by Azure OpenAI or Azure AI Language while translation remains handled by Azure Translator.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future Azure integration clearly. Translation moves to Azure AI Translator, summarization moves to Azure OpenAI or Azure AI Language, and chat persistence moves to Cosmos DB. The backend API already gives a natural place to connect those 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engineering value: the project combines frontend design, backend API design, data modeling, and AI service integration. Invite questions about the demo, architecture, Azure services, or future improvements.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c77197d3aa4e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7bf0b0d0c648dc" /><Relationship Type="http://schemas.openxmlformats.org/officeDocument/2006/relationships/slideLayout" Target="/ppt/slideLayouts/slideLayout1.xml" Id="Rc5cd4b1e6fc14f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cd4b1e6fc14f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0a4a6d5ff74a21" /><Relationship Type="http://schemas.openxmlformats.org/officeDocument/2006/relationships/notesSlide" Target="/ppt/notesSlides/notesSlide1.xml" Id="R979a523a51a949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719d6c8a954591" /><Relationship Type="http://schemas.openxmlformats.org/officeDocument/2006/relationships/notesSlide" Target="/ppt/notesSlides/notesSlide2.xml" Id="Rbfef643a1b9240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b7914e2c9d427d" /><Relationship Type="http://schemas.openxmlformats.org/officeDocument/2006/relationships/notesSlide" Target="/ppt/notesSlides/notesSlide3.xml" Id="R5c93c46dbff740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fa9773af00f4a73" /><Relationship Type="http://schemas.openxmlformats.org/officeDocument/2006/relationships/notesSlide" Target="/ppt/notesSlides/notesSlide4.xml" Id="R6239ec7f94fb44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15be365906f4784" /><Relationship Type="http://schemas.openxmlformats.org/officeDocument/2006/relationships/notesSlide" Target="/ppt/notesSlides/notesSlide5.xml" Id="R6725bc0c88f347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3b7be2ff8444894" /><Relationship Type="http://schemas.openxmlformats.org/officeDocument/2006/relationships/notesSlide" Target="/ppt/notesSlides/notesSlide6.xml" Id="Rd83708194ce341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08f1d32927447f0" /><Relationship Type="http://schemas.openxmlformats.org/officeDocument/2006/relationships/notesSlide" Target="/ppt/notesSlides/notesSlide7.xml" Id="R70fb1d2191c241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30176e9a1044c93" /><Relationship Type="http://schemas.openxmlformats.org/officeDocument/2006/relationships/notesSlide" Target="/ppt/notesSlides/notesSlide8.xml" Id="Rd32668563ef34d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453692f1bda45ad" /><Relationship Type="http://schemas.openxmlformats.org/officeDocument/2006/relationships/notesSlide" Target="/ppt/notesSlides/notesSlide9.xml" Id="R614dba9674f04c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82616c529c94c4d" /><Relationship Type="http://schemas.openxmlformats.org/officeDocument/2006/relationships/notesSlide" Target="/ppt/notesSlides/notesSlide10.xml" Id="Rbccc47a24ca7446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2D7541-D0AB-4FAA-AAE4-80F901181F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7765E8D-B621-409F-A180-7189133EF57D}"/>
              </a:ext>
            </a:extLst>
          </p:cNvPr>
          <p:cNvSpPr>
            <a:spLocks xmlns:a="http://schemas.openxmlformats.org/drawingml/2006/main" noGrp="1"/>
          </p:cNvSpPr>
          <p:nvPr/>
        </p:nvSpPr>
        <p:spPr>
          <a:xfrm xmlns:a="http://schemas.openxmlformats.org/drawingml/2006/main">
            <a:off x="6667500" y="0"/>
            <a:ext cx="4095750" cy="4095750"/>
          </a:xfrm>
          <a:prstGeom xmlns:a="http://schemas.openxmlformats.org/drawingml/2006/main" prst="ellipse">
            <a:avLst/>
          </a:prstGeom>
          <a:solidFill xmlns:a="http://schemas.openxmlformats.org/drawingml/2006/main">
            <a:srgbClr val="10437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5FE856A-36E9-473B-B203-B9AAD606CBF3}"/>
              </a:ext>
            </a:extLst>
          </p:cNvPr>
          <p:cNvSpPr>
            <a:spLocks xmlns:a="http://schemas.openxmlformats.org/drawingml/2006/main" noGrp="1"/>
          </p:cNvSpPr>
          <p:nvPr/>
        </p:nvSpPr>
        <p:spPr>
          <a:xfrm xmlns:a="http://schemas.openxmlformats.org/drawingml/2006/main">
            <a:off x="8134350" y="1123950"/>
            <a:ext cx="2762250" cy="2762250"/>
          </a:xfrm>
          <a:prstGeom xmlns:a="http://schemas.openxmlformats.org/drawingml/2006/main" prst="ellipse">
            <a:avLst/>
          </a:prstGeom>
          <a:solidFill xmlns:a="http://schemas.openxmlformats.org/drawingml/2006/main">
            <a:srgbClr val="08233F"/>
          </a:solidFill>
          <a:ln xmlns:a="http://schemas.openxmlformats.org/drawingml/2006/main" w="19050">
            <a:solidFill>
              <a:srgbClr val="5EE7DF"/>
            </a:solidFill>
            <a:prstDash val="solid"/>
          </a:ln>
        </p:spPr>
      </p:sp>
      <p:sp>
        <p:nvSpPr>
          <p:cNvPr id="4" name="">
            <a:extLst xmlns:a="http://schemas.openxmlformats.org/drawingml/2006/main">
              <a:ext uri="{FF2B5EF4-FFF2-40B4-BE49-F238E27FC236}">
                <a16:creationId xmlns:a16="http://schemas.microsoft.com/office/drawing/2014/main" id="{356EA536-A993-4D15-938F-CC972F4163CF}"/>
              </a:ext>
            </a:extLst>
          </p:cNvPr>
          <p:cNvSpPr>
            <a:spLocks xmlns:a="http://schemas.openxmlformats.org/drawingml/2006/main" noGrp="1"/>
          </p:cNvSpPr>
          <p:nvPr/>
        </p:nvSpPr>
        <p:spPr>
          <a:xfrm xmlns:a="http://schemas.openxmlformats.org/drawingml/2006/main">
            <a:off x="8972550" y="1962150"/>
            <a:ext cx="10668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4050" b="1">
                <a:solidFill>
                  <a:srgbClr val="5EE7DF"/>
                </a:solidFill>
                <a:latin typeface="Aptos Display"/>
                <a:ea typeface="Aptos Display"/>
                <a:cs typeface="Aptos Display"/>
              </a:defRPr>
            </a:pPr>
            <a:r>
              <a:rPr sz="4050" b="1">
                <a:solidFill>
                  <a:srgbClr val="5EE7DF"/>
                </a:solidFill>
                <a:latin typeface="Aptos Display"/>
                <a:ea typeface="Aptos Display"/>
                <a:cs typeface="Aptos Display"/>
              </a:rPr>
              <a:t>LB</a:t>
            </a:r>
          </a:p>
        </p:txBody>
      </p:sp>
      <p:sp>
        <p:nvSpPr>
          <p:cNvPr id="5" name="">
            <a:extLst xmlns:a="http://schemas.openxmlformats.org/drawingml/2006/main">
              <a:ext uri="{FF2B5EF4-FFF2-40B4-BE49-F238E27FC236}">
                <a16:creationId xmlns:a16="http://schemas.microsoft.com/office/drawing/2014/main" id="{31EC19A1-4E76-4D93-AC69-F3FB28AC64CC}"/>
              </a:ext>
            </a:extLst>
          </p:cNvPr>
          <p:cNvSpPr>
            <a:spLocks xmlns:a="http://schemas.openxmlformats.org/drawingml/2006/main" noGrp="1"/>
          </p:cNvSpPr>
          <p:nvPr/>
        </p:nvSpPr>
        <p:spPr>
          <a:xfrm xmlns:a="http://schemas.openxmlformats.org/drawingml/2006/main">
            <a:off x="704850" y="781050"/>
            <a:ext cx="4000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5EE7DF"/>
                </a:solidFill>
                <a:latin typeface="Aptos"/>
                <a:ea typeface="Aptos"/>
                <a:cs typeface="Aptos"/>
              </a:defRPr>
            </a:pPr>
            <a:r>
              <a:rPr sz="1050" b="1">
                <a:solidFill>
                  <a:srgbClr val="5EE7DF"/>
                </a:solidFill>
                <a:latin typeface="Aptos"/>
                <a:ea typeface="Aptos"/>
                <a:cs typeface="Aptos"/>
              </a:rPr>
              <a:t>LINGUABRIDGE CLOUD CHAT</a:t>
            </a:r>
          </a:p>
        </p:txBody>
      </p:sp>
      <p:sp>
        <p:nvSpPr>
          <p:cNvPr id="6" name="">
            <a:extLst xmlns:a="http://schemas.openxmlformats.org/drawingml/2006/main">
              <a:ext uri="{FF2B5EF4-FFF2-40B4-BE49-F238E27FC236}">
                <a16:creationId xmlns:a16="http://schemas.microsoft.com/office/drawing/2014/main" id="{535C669F-D75C-48EC-B1AE-039CFF143B04}"/>
              </a:ext>
            </a:extLst>
          </p:cNvPr>
          <p:cNvSpPr>
            <a:spLocks xmlns:a="http://schemas.openxmlformats.org/drawingml/2006/main" noGrp="1"/>
          </p:cNvSpPr>
          <p:nvPr/>
        </p:nvSpPr>
        <p:spPr>
          <a:xfrm xmlns:a="http://schemas.openxmlformats.org/drawingml/2006/main">
            <a:off x="704850" y="1524000"/>
            <a:ext cx="65722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75" b="1">
                <a:solidFill>
                  <a:srgbClr val="F4F9FF"/>
                </a:solidFill>
                <a:latin typeface="Aptos Display"/>
                <a:ea typeface="Aptos Display"/>
                <a:cs typeface="Aptos Display"/>
              </a:defRPr>
            </a:pPr>
            <a:r>
              <a:rPr sz="3675" b="1">
                <a:solidFill>
                  <a:srgbClr val="F4F9FF"/>
                </a:solidFill>
                <a:latin typeface="Aptos Display"/>
                <a:ea typeface="Aptos Display"/>
                <a:cs typeface="Aptos Display"/>
              </a:rPr>
              <a:t>Linguabridge Cloud Chat</a:t>
            </a:r>
          </a:p>
        </p:txBody>
      </p:sp>
      <p:sp>
        <p:nvSpPr>
          <p:cNvPr id="7" name="">
            <a:extLst xmlns:a="http://schemas.openxmlformats.org/drawingml/2006/main">
              <a:ext uri="{FF2B5EF4-FFF2-40B4-BE49-F238E27FC236}">
                <a16:creationId xmlns:a16="http://schemas.microsoft.com/office/drawing/2014/main" id="{D05CAC46-35C8-431B-9DF6-48CC1E7C6169}"/>
              </a:ext>
            </a:extLst>
          </p:cNvPr>
          <p:cNvSpPr>
            <a:spLocks xmlns:a="http://schemas.openxmlformats.org/drawingml/2006/main" noGrp="1"/>
          </p:cNvSpPr>
          <p:nvPr/>
        </p:nvSpPr>
        <p:spPr>
          <a:xfrm xmlns:a="http://schemas.openxmlformats.org/drawingml/2006/main">
            <a:off x="742950" y="2686050"/>
            <a:ext cx="6286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A8BED6"/>
                </a:solidFill>
                <a:latin typeface="Aptos"/>
                <a:ea typeface="Aptos"/>
                <a:cs typeface="Aptos"/>
              </a:defRPr>
            </a:pPr>
            <a:r>
              <a:rPr sz="1800" b="0">
                <a:solidFill>
                  <a:srgbClr val="A8BED6"/>
                </a:solidFill>
                <a:latin typeface="Aptos"/>
                <a:ea typeface="Aptos"/>
                <a:cs typeface="Aptos"/>
              </a:rPr>
              <a:t>Azure-Ready Multilingual AI Communication Platform</a:t>
            </a:r>
          </a:p>
        </p:txBody>
      </p:sp>
      <p:sp>
        <p:nvSpPr>
          <p:cNvPr id="8" name="">
            <a:extLst xmlns:a="http://schemas.openxmlformats.org/drawingml/2006/main">
              <a:ext uri="{FF2B5EF4-FFF2-40B4-BE49-F238E27FC236}">
                <a16:creationId xmlns:a16="http://schemas.microsoft.com/office/drawing/2014/main" id="{4A88A786-D6EC-476A-B7F9-61AE0ADD1B5A}"/>
              </a:ext>
            </a:extLst>
          </p:cNvPr>
          <p:cNvSpPr>
            <a:spLocks xmlns:a="http://schemas.openxmlformats.org/drawingml/2006/main" noGrp="1"/>
          </p:cNvSpPr>
          <p:nvPr/>
        </p:nvSpPr>
        <p:spPr>
          <a:xfrm xmlns:a="http://schemas.openxmlformats.org/drawingml/2006/main">
            <a:off x="742950" y="3905250"/>
            <a:ext cx="6191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5EE7DF"/>
                </a:solidFill>
                <a:latin typeface="Aptos"/>
                <a:ea typeface="Aptos"/>
                <a:cs typeface="Aptos"/>
              </a:defRPr>
            </a:pPr>
            <a:r>
              <a:rPr sz="1200" b="1">
                <a:solidFill>
                  <a:srgbClr val="5EE7DF"/>
                </a:solidFill>
                <a:latin typeface="Aptos"/>
                <a:ea typeface="Aptos"/>
                <a:cs typeface="Aptos"/>
              </a:rPr>
              <a:t>Team C_03 · Hossain Enam · Ju Minjun · Rayhan B M Zidan Istiak</a:t>
            </a:r>
          </a:p>
        </p:txBody>
      </p:sp>
      <p:sp>
        <p:nvSpPr>
          <p:cNvPr id="9" name="">
            <a:extLst xmlns:a="http://schemas.openxmlformats.org/drawingml/2006/main">
              <a:ext uri="{FF2B5EF4-FFF2-40B4-BE49-F238E27FC236}">
                <a16:creationId xmlns:a16="http://schemas.microsoft.com/office/drawing/2014/main" id="{CA58531B-E5FE-4963-942F-F77B84EB7C00}"/>
              </a:ext>
            </a:extLst>
          </p:cNvPr>
          <p:cNvSpPr>
            <a:spLocks xmlns:a="http://schemas.openxmlformats.org/drawingml/2006/main" noGrp="1"/>
          </p:cNvSpPr>
          <p:nvPr/>
        </p:nvSpPr>
        <p:spPr>
          <a:xfrm xmlns:a="http://schemas.openxmlformats.org/drawingml/2006/main">
            <a:off x="742950" y="3562350"/>
            <a:ext cx="2000250" cy="4762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541ECD00-B143-4C08-B522-655623699C83}"/>
              </a:ext>
            </a:extLst>
          </p:cNvPr>
          <p:cNvSpPr>
            <a:spLocks xmlns:a="http://schemas.openxmlformats.org/drawingml/2006/main" noGrp="1"/>
          </p:cNvSpPr>
          <p:nvPr/>
        </p:nvSpPr>
        <p:spPr>
          <a:xfrm xmlns:a="http://schemas.openxmlformats.org/drawingml/2006/main">
            <a:off x="704850" y="5495925"/>
            <a:ext cx="1619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5EE7DF"/>
                </a:solidFill>
                <a:latin typeface="Aptos"/>
                <a:ea typeface="Aptos"/>
                <a:cs typeface="Aptos"/>
              </a:defRPr>
            </a:pPr>
            <a:r>
              <a:rPr sz="2250" b="1">
                <a:solidFill>
                  <a:srgbClr val="5EE7DF"/>
                </a:solidFill>
                <a:latin typeface="Aptos"/>
                <a:ea typeface="Aptos"/>
                <a:cs typeface="Aptos"/>
              </a:rPr>
              <a:t>9</a:t>
            </a:r>
          </a:p>
        </p:txBody>
      </p:sp>
      <p:sp>
        <p:nvSpPr>
          <p:cNvPr id="11" name="">
            <a:extLst xmlns:a="http://schemas.openxmlformats.org/drawingml/2006/main">
              <a:ext uri="{FF2B5EF4-FFF2-40B4-BE49-F238E27FC236}">
                <a16:creationId xmlns:a16="http://schemas.microsoft.com/office/drawing/2014/main" id="{A7893C45-6838-4ED6-9B62-43A497891577}"/>
              </a:ext>
            </a:extLst>
          </p:cNvPr>
          <p:cNvSpPr>
            <a:spLocks xmlns:a="http://schemas.openxmlformats.org/drawingml/2006/main" noGrp="1"/>
          </p:cNvSpPr>
          <p:nvPr/>
        </p:nvSpPr>
        <p:spPr>
          <a:xfrm xmlns:a="http://schemas.openxmlformats.org/drawingml/2006/main">
            <a:off x="704850" y="5905500"/>
            <a:ext cx="1619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A8BED6"/>
                </a:solidFill>
                <a:latin typeface="Aptos"/>
                <a:ea typeface="Aptos"/>
                <a:cs typeface="Aptos"/>
              </a:defRPr>
            </a:pPr>
            <a:r>
              <a:rPr sz="825" b="1">
                <a:solidFill>
                  <a:srgbClr val="A8BED6"/>
                </a:solidFill>
                <a:latin typeface="Aptos"/>
                <a:ea typeface="Aptos"/>
                <a:cs typeface="Aptos"/>
              </a:rPr>
              <a:t>supported languages</a:t>
            </a:r>
          </a:p>
        </p:txBody>
      </p:sp>
      <p:sp>
        <p:nvSpPr>
          <p:cNvPr id="12" name="">
            <a:extLst xmlns:a="http://schemas.openxmlformats.org/drawingml/2006/main">
              <a:ext uri="{FF2B5EF4-FFF2-40B4-BE49-F238E27FC236}">
                <a16:creationId xmlns:a16="http://schemas.microsoft.com/office/drawing/2014/main" id="{BB39ED12-6CB6-4EFC-A120-F0120589E437}"/>
              </a:ext>
            </a:extLst>
          </p:cNvPr>
          <p:cNvSpPr>
            <a:spLocks xmlns:a="http://schemas.openxmlformats.org/drawingml/2006/main" noGrp="1"/>
          </p:cNvSpPr>
          <p:nvPr/>
        </p:nvSpPr>
        <p:spPr>
          <a:xfrm xmlns:a="http://schemas.openxmlformats.org/drawingml/2006/main">
            <a:off x="2876550" y="5495925"/>
            <a:ext cx="1619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52E3A4"/>
                </a:solidFill>
                <a:latin typeface="Aptos"/>
                <a:ea typeface="Aptos"/>
                <a:cs typeface="Aptos"/>
              </a:defRPr>
            </a:pPr>
            <a:r>
              <a:rPr sz="2250" b="1">
                <a:solidFill>
                  <a:srgbClr val="52E3A4"/>
                </a:solidFill>
                <a:latin typeface="Aptos"/>
                <a:ea typeface="Aptos"/>
                <a:cs typeface="Aptos"/>
              </a:rPr>
              <a:t>5</a:t>
            </a:r>
          </a:p>
        </p:txBody>
      </p:sp>
      <p:sp>
        <p:nvSpPr>
          <p:cNvPr id="13" name="">
            <a:extLst xmlns:a="http://schemas.openxmlformats.org/drawingml/2006/main">
              <a:ext uri="{FF2B5EF4-FFF2-40B4-BE49-F238E27FC236}">
                <a16:creationId xmlns:a16="http://schemas.microsoft.com/office/drawing/2014/main" id="{23B6CAED-55E5-48E4-B128-0DD7163C4764}"/>
              </a:ext>
            </a:extLst>
          </p:cNvPr>
          <p:cNvSpPr>
            <a:spLocks xmlns:a="http://schemas.openxmlformats.org/drawingml/2006/main" noGrp="1"/>
          </p:cNvSpPr>
          <p:nvPr/>
        </p:nvSpPr>
        <p:spPr>
          <a:xfrm xmlns:a="http://schemas.openxmlformats.org/drawingml/2006/main">
            <a:off x="2876550" y="5905500"/>
            <a:ext cx="1619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A8BED6"/>
                </a:solidFill>
                <a:latin typeface="Aptos"/>
                <a:ea typeface="Aptos"/>
                <a:cs typeface="Aptos"/>
              </a:defRPr>
            </a:pPr>
            <a:r>
              <a:rPr sz="825" b="1">
                <a:solidFill>
                  <a:srgbClr val="A8BED6"/>
                </a:solidFill>
                <a:latin typeface="Aptos"/>
                <a:ea typeface="Aptos"/>
                <a:cs typeface="Aptos"/>
              </a:rPr>
              <a:t>demo participants</a:t>
            </a:r>
          </a:p>
        </p:txBody>
      </p:sp>
      <p:sp>
        <p:nvSpPr>
          <p:cNvPr id="14" name="">
            <a:extLst xmlns:a="http://schemas.openxmlformats.org/drawingml/2006/main">
              <a:ext uri="{FF2B5EF4-FFF2-40B4-BE49-F238E27FC236}">
                <a16:creationId xmlns:a16="http://schemas.microsoft.com/office/drawing/2014/main" id="{4BF52FE5-0E68-4510-95F0-6D1836FB01A0}"/>
              </a:ext>
            </a:extLst>
          </p:cNvPr>
          <p:cNvSpPr>
            <a:spLocks xmlns:a="http://schemas.openxmlformats.org/drawingml/2006/main" noGrp="1"/>
          </p:cNvSpPr>
          <p:nvPr/>
        </p:nvSpPr>
        <p:spPr>
          <a:xfrm xmlns:a="http://schemas.openxmlformats.org/drawingml/2006/main">
            <a:off x="5048250" y="5495925"/>
            <a:ext cx="1619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D166"/>
                </a:solidFill>
                <a:latin typeface="Aptos"/>
                <a:ea typeface="Aptos"/>
                <a:cs typeface="Aptos"/>
              </a:defRPr>
            </a:pPr>
            <a:r>
              <a:rPr sz="2250" b="1">
                <a:solidFill>
                  <a:srgbClr val="FFD166"/>
                </a:solidFill>
                <a:latin typeface="Aptos"/>
                <a:ea typeface="Aptos"/>
                <a:cs typeface="Aptos"/>
              </a:rPr>
              <a:t>JSON</a:t>
            </a:r>
          </a:p>
        </p:txBody>
      </p:sp>
      <p:sp>
        <p:nvSpPr>
          <p:cNvPr id="15" name="">
            <a:extLst xmlns:a="http://schemas.openxmlformats.org/drawingml/2006/main">
              <a:ext uri="{FF2B5EF4-FFF2-40B4-BE49-F238E27FC236}">
                <a16:creationId xmlns:a16="http://schemas.microsoft.com/office/drawing/2014/main" id="{AC02EF17-E4E2-4526-BDDE-C63481BA7798}"/>
              </a:ext>
            </a:extLst>
          </p:cNvPr>
          <p:cNvSpPr>
            <a:spLocks xmlns:a="http://schemas.openxmlformats.org/drawingml/2006/main" noGrp="1"/>
          </p:cNvSpPr>
          <p:nvPr/>
        </p:nvSpPr>
        <p:spPr>
          <a:xfrm xmlns:a="http://schemas.openxmlformats.org/drawingml/2006/main">
            <a:off x="5048250" y="5905500"/>
            <a:ext cx="1619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A8BED6"/>
                </a:solidFill>
                <a:latin typeface="Aptos"/>
                <a:ea typeface="Aptos"/>
                <a:cs typeface="Aptos"/>
              </a:defRPr>
            </a:pPr>
            <a:r>
              <a:rPr sz="825" b="1">
                <a:solidFill>
                  <a:srgbClr val="A8BED6"/>
                </a:solidFill>
                <a:latin typeface="Aptos"/>
                <a:ea typeface="Aptos"/>
                <a:cs typeface="Aptos"/>
              </a:rPr>
              <a:t>structured export</a:t>
            </a:r>
          </a:p>
        </p:txBody>
      </p:sp>
      <p:sp>
        <p:nvSpPr>
          <p:cNvPr id="16" name="">
            <a:extLst xmlns:a="http://schemas.openxmlformats.org/drawingml/2006/main">
              <a:ext uri="{FF2B5EF4-FFF2-40B4-BE49-F238E27FC236}">
                <a16:creationId xmlns:a16="http://schemas.microsoft.com/office/drawing/2014/main" id="{FC589360-09B4-4D08-AA58-BB825BBEAC69}"/>
              </a:ext>
            </a:extLst>
          </p:cNvPr>
          <p:cNvSpPr>
            <a:spLocks xmlns:a="http://schemas.openxmlformats.org/drawingml/2006/main" noGrp="1"/>
          </p:cNvSpPr>
          <p:nvPr/>
        </p:nvSpPr>
        <p:spPr>
          <a:xfrm xmlns:a="http://schemas.openxmlformats.org/drawingml/2006/main">
            <a:off x="7219950" y="5495925"/>
            <a:ext cx="1619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35A7FF"/>
                </a:solidFill>
                <a:latin typeface="Aptos"/>
                <a:ea typeface="Aptos"/>
                <a:cs typeface="Aptos"/>
              </a:defRPr>
            </a:pPr>
            <a:r>
              <a:rPr sz="2250" b="1">
                <a:solidFill>
                  <a:srgbClr val="35A7FF"/>
                </a:solidFill>
                <a:latin typeface="Aptos"/>
                <a:ea typeface="Aptos"/>
                <a:cs typeface="Aptos"/>
              </a:rPr>
              <a:t>Azure</a:t>
            </a:r>
          </a:p>
        </p:txBody>
      </p:sp>
      <p:sp>
        <p:nvSpPr>
          <p:cNvPr id="17" name="">
            <a:extLst xmlns:a="http://schemas.openxmlformats.org/drawingml/2006/main">
              <a:ext uri="{FF2B5EF4-FFF2-40B4-BE49-F238E27FC236}">
                <a16:creationId xmlns:a16="http://schemas.microsoft.com/office/drawing/2014/main" id="{357113B9-7AA9-4C39-9FF8-038B7B94B274}"/>
              </a:ext>
            </a:extLst>
          </p:cNvPr>
          <p:cNvSpPr>
            <a:spLocks xmlns:a="http://schemas.openxmlformats.org/drawingml/2006/main" noGrp="1"/>
          </p:cNvSpPr>
          <p:nvPr/>
        </p:nvSpPr>
        <p:spPr>
          <a:xfrm xmlns:a="http://schemas.openxmlformats.org/drawingml/2006/main">
            <a:off x="7219950" y="5905500"/>
            <a:ext cx="1619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A8BED6"/>
                </a:solidFill>
                <a:latin typeface="Aptos"/>
                <a:ea typeface="Aptos"/>
                <a:cs typeface="Aptos"/>
              </a:defRPr>
            </a:pPr>
            <a:r>
              <a:rPr sz="825" b="1">
                <a:solidFill>
                  <a:srgbClr val="A8BED6"/>
                </a:solidFill>
                <a:latin typeface="Aptos"/>
                <a:ea typeface="Aptos"/>
                <a:cs typeface="Aptos"/>
              </a:rPr>
              <a:t>translator integrated</a:t>
            </a:r>
          </a:p>
        </p:txBody>
      </p:sp>
    </p:spTree>
    <p:extLst>
      <p:ext uri="{BB962C8B-B14F-4D97-AF65-F5344CB8AC3E}">
        <p14:creationId xmlns:p14="http://schemas.microsoft.com/office/powerpoint/2010/main" val="188892906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94D4552-DD82-4BDE-BFCF-31AD2D0059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87A42B5-F7AA-4F26-ACF2-04981BB61FC3}"/>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D29F905-4D9C-4ED3-A1F4-E513B2809067}"/>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17FDAF0-9876-4D87-A93B-A5C90E09FFF8}"/>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4C90D9F-AB26-445F-A419-67AEC9BCA654}"/>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F0DAE48-B1D8-41FE-9B58-0E98DDA259CA}"/>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FE532D4-80F6-4D58-B672-E4955B8C48E9}"/>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7BB0E79F-49C5-48BC-9A54-28587166FD75}"/>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BA435AE2-E050-4DDD-9CCC-C1359AA85BC1}"/>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3E7853E6-87FE-4FA3-8D44-6EA056B684FE}"/>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515900F-FB7F-4191-83E7-10F3BE511AFF}"/>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BCF5E69-E9E7-4B92-8DC2-57C43C4560C3}"/>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2-label">
            <a:extLst xmlns:a="http://schemas.openxmlformats.org/drawingml/2006/main">
              <a:ext uri="{FF2B5EF4-FFF2-40B4-BE49-F238E27FC236}">
                <a16:creationId xmlns:a16="http://schemas.microsoft.com/office/drawing/2014/main" id="{9DAC3867-0ECE-497B-91B4-50EE0BAD7CF0}"/>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40CB5349-05DC-45F9-8C92-325F5C8EF6C4}"/>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4CDDAAF5-FCC2-4F7D-843D-01D07235CBA6}"/>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02</a:t>
            </a:r>
          </a:p>
        </p:txBody>
      </p:sp>
      <p:sp>
        <p:nvSpPr>
          <p:cNvPr id="16" name="kicker-2-label-main">
            <a:extLst xmlns:a="http://schemas.openxmlformats.org/drawingml/2006/main">
              <a:ext uri="{FF2B5EF4-FFF2-40B4-BE49-F238E27FC236}">
                <a16:creationId xmlns:a16="http://schemas.microsoft.com/office/drawing/2014/main" id="{99D5A9D1-638F-4F2B-B13F-806E93AE064E}"/>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PROBLEM</a:t>
            </a:r>
          </a:p>
        </p:txBody>
      </p:sp>
      <p:sp>
        <p:nvSpPr>
          <p:cNvPr id="17" name="">
            <a:extLst xmlns:a="http://schemas.openxmlformats.org/drawingml/2006/main">
              <a:ext uri="{FF2B5EF4-FFF2-40B4-BE49-F238E27FC236}">
                <a16:creationId xmlns:a16="http://schemas.microsoft.com/office/drawing/2014/main" id="{E552BADA-80FE-4766-B571-870D447DBC0A}"/>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Multilingual teams lose clarity when communication depends on one shared language.</a:t>
            </a:r>
          </a:p>
        </p:txBody>
      </p:sp>
      <p:sp>
        <p:nvSpPr>
          <p:cNvPr id="18" name="">
            <a:extLst xmlns:a="http://schemas.openxmlformats.org/drawingml/2006/main">
              <a:ext uri="{FF2B5EF4-FFF2-40B4-BE49-F238E27FC236}">
                <a16:creationId xmlns:a16="http://schemas.microsoft.com/office/drawing/2014/main" id="{EF2418B9-3C3F-4A96-A729-58A6FA6CE4C3}"/>
              </a:ext>
            </a:extLst>
          </p:cNvPr>
          <p:cNvSpPr>
            <a:spLocks xmlns:a="http://schemas.openxmlformats.org/drawingml/2006/main" noGrp="1"/>
          </p:cNvSpPr>
          <p:nvPr/>
        </p:nvSpPr>
        <p:spPr>
          <a:xfrm xmlns:a="http://schemas.openxmlformats.org/drawingml/2006/main">
            <a:off x="819150" y="2914650"/>
            <a:ext cx="44577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19" name="">
            <a:extLst xmlns:a="http://schemas.openxmlformats.org/drawingml/2006/main">
              <a:ext uri="{FF2B5EF4-FFF2-40B4-BE49-F238E27FC236}">
                <a16:creationId xmlns:a16="http://schemas.microsoft.com/office/drawing/2014/main" id="{45358574-2BCA-49EC-BFCA-C1845A7D8301}"/>
              </a:ext>
            </a:extLst>
          </p:cNvPr>
          <p:cNvSpPr>
            <a:spLocks xmlns:a="http://schemas.openxmlformats.org/drawingml/2006/main" noGrp="1"/>
          </p:cNvSpPr>
          <p:nvPr/>
        </p:nvSpPr>
        <p:spPr>
          <a:xfrm xmlns:a="http://schemas.openxmlformats.org/drawingml/2006/main">
            <a:off x="819150" y="302895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7292E05D-B582-468F-BFCD-DC957BC72AD0}"/>
              </a:ext>
            </a:extLst>
          </p:cNvPr>
          <p:cNvSpPr>
            <a:spLocks xmlns:a="http://schemas.openxmlformats.org/drawingml/2006/main" noGrp="1"/>
          </p:cNvSpPr>
          <p:nvPr/>
        </p:nvSpPr>
        <p:spPr>
          <a:xfrm xmlns:a="http://schemas.openxmlformats.org/drawingml/2006/main">
            <a:off x="1047750" y="3067050"/>
            <a:ext cx="407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Language barriers slow collaboration</a:t>
            </a:r>
          </a:p>
        </p:txBody>
      </p:sp>
      <p:sp>
        <p:nvSpPr>
          <p:cNvPr id="21" name="">
            <a:extLst xmlns:a="http://schemas.openxmlformats.org/drawingml/2006/main">
              <a:ext uri="{FF2B5EF4-FFF2-40B4-BE49-F238E27FC236}">
                <a16:creationId xmlns:a16="http://schemas.microsoft.com/office/drawing/2014/main" id="{59ED349A-2C3D-491B-B629-9CE7D16CC09F}"/>
              </a:ext>
            </a:extLst>
          </p:cNvPr>
          <p:cNvSpPr>
            <a:spLocks xmlns:a="http://schemas.openxmlformats.org/drawingml/2006/main" noGrp="1"/>
          </p:cNvSpPr>
          <p:nvPr/>
        </p:nvSpPr>
        <p:spPr>
          <a:xfrm xmlns:a="http://schemas.openxmlformats.org/drawingml/2006/main">
            <a:off x="819150" y="3581400"/>
            <a:ext cx="44577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2" name="">
            <a:extLst xmlns:a="http://schemas.openxmlformats.org/drawingml/2006/main">
              <a:ext uri="{FF2B5EF4-FFF2-40B4-BE49-F238E27FC236}">
                <a16:creationId xmlns:a16="http://schemas.microsoft.com/office/drawing/2014/main" id="{1EAF7CB1-CD66-46F7-B6F3-B3DD6B4D3684}"/>
              </a:ext>
            </a:extLst>
          </p:cNvPr>
          <p:cNvSpPr>
            <a:spLocks xmlns:a="http://schemas.openxmlformats.org/drawingml/2006/main" noGrp="1"/>
          </p:cNvSpPr>
          <p:nvPr/>
        </p:nvSpPr>
        <p:spPr>
          <a:xfrm xmlns:a="http://schemas.openxmlformats.org/drawingml/2006/main">
            <a:off x="819150" y="3695700"/>
            <a:ext cx="38100" cy="304800"/>
          </a:xfrm>
          <a:prstGeom xmlns:a="http://schemas.openxmlformats.org/drawingml/2006/main" prst="rect">
            <a:avLst/>
          </a:prstGeom>
          <a:solidFill xmlns:a="http://schemas.openxmlformats.org/drawingml/2006/main">
            <a:srgbClr val="52E3A4"/>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DCE2CE4A-9D31-4B0A-87C7-ACC7546CCF24}"/>
              </a:ext>
            </a:extLst>
          </p:cNvPr>
          <p:cNvSpPr>
            <a:spLocks xmlns:a="http://schemas.openxmlformats.org/drawingml/2006/main" noGrp="1"/>
          </p:cNvSpPr>
          <p:nvPr/>
        </p:nvSpPr>
        <p:spPr>
          <a:xfrm xmlns:a="http://schemas.openxmlformats.org/drawingml/2006/main">
            <a:off x="1047750" y="3733800"/>
            <a:ext cx="407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Manual translation breaks conversation flow</a:t>
            </a:r>
          </a:p>
        </p:txBody>
      </p:sp>
      <p:sp>
        <p:nvSpPr>
          <p:cNvPr id="24" name="">
            <a:extLst xmlns:a="http://schemas.openxmlformats.org/drawingml/2006/main">
              <a:ext uri="{FF2B5EF4-FFF2-40B4-BE49-F238E27FC236}">
                <a16:creationId xmlns:a16="http://schemas.microsoft.com/office/drawing/2014/main" id="{8EE7BACC-EE8B-4BC6-9E74-14DEC975F245}"/>
              </a:ext>
            </a:extLst>
          </p:cNvPr>
          <p:cNvSpPr>
            <a:spLocks xmlns:a="http://schemas.openxmlformats.org/drawingml/2006/main" noGrp="1"/>
          </p:cNvSpPr>
          <p:nvPr/>
        </p:nvSpPr>
        <p:spPr>
          <a:xfrm xmlns:a="http://schemas.openxmlformats.org/drawingml/2006/main">
            <a:off x="819150" y="4248150"/>
            <a:ext cx="44577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5" name="">
            <a:extLst xmlns:a="http://schemas.openxmlformats.org/drawingml/2006/main">
              <a:ext uri="{FF2B5EF4-FFF2-40B4-BE49-F238E27FC236}">
                <a16:creationId xmlns:a16="http://schemas.microsoft.com/office/drawing/2014/main" id="{7043A1C8-1948-4A78-99B6-73AC6C5FAEBE}"/>
              </a:ext>
            </a:extLst>
          </p:cNvPr>
          <p:cNvSpPr>
            <a:spLocks xmlns:a="http://schemas.openxmlformats.org/drawingml/2006/main" noGrp="1"/>
          </p:cNvSpPr>
          <p:nvPr/>
        </p:nvSpPr>
        <p:spPr>
          <a:xfrm xmlns:a="http://schemas.openxmlformats.org/drawingml/2006/main">
            <a:off x="819150" y="436245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B812366C-094F-4B73-8396-1B59F2F3E1E5}"/>
              </a:ext>
            </a:extLst>
          </p:cNvPr>
          <p:cNvSpPr>
            <a:spLocks xmlns:a="http://schemas.openxmlformats.org/drawingml/2006/main" noGrp="1"/>
          </p:cNvSpPr>
          <p:nvPr/>
        </p:nvSpPr>
        <p:spPr>
          <a:xfrm xmlns:a="http://schemas.openxmlformats.org/drawingml/2006/main">
            <a:off x="1047750" y="4400550"/>
            <a:ext cx="407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Important decisions are hard to recover later</a:t>
            </a:r>
          </a:p>
        </p:txBody>
      </p:sp>
      <p:sp>
        <p:nvSpPr>
          <p:cNvPr id="27" name="">
            <a:extLst xmlns:a="http://schemas.openxmlformats.org/drawingml/2006/main">
              <a:ext uri="{FF2B5EF4-FFF2-40B4-BE49-F238E27FC236}">
                <a16:creationId xmlns:a16="http://schemas.microsoft.com/office/drawing/2014/main" id="{FE653497-1B8A-45F2-80E7-B30B9560E4A1}"/>
              </a:ext>
            </a:extLst>
          </p:cNvPr>
          <p:cNvSpPr>
            <a:spLocks xmlns:a="http://schemas.openxmlformats.org/drawingml/2006/main" noGrp="1"/>
          </p:cNvSpPr>
          <p:nvPr/>
        </p:nvSpPr>
        <p:spPr>
          <a:xfrm xmlns:a="http://schemas.openxmlformats.org/drawingml/2006/main">
            <a:off x="6286500" y="2914650"/>
            <a:ext cx="3524250" cy="2286000"/>
          </a:xfrm>
          <a:prstGeom xmlns:a="http://schemas.openxmlformats.org/drawingml/2006/main" prst="roundRect">
            <a:avLst>
              <a:gd name="adj" fmla="val 3333"/>
            </a:avLst>
          </a:prstGeom>
          <a:solidFill xmlns:a="http://schemas.openxmlformats.org/drawingml/2006/main">
            <a:srgbClr val="0D2B4C"/>
          </a:solidFill>
          <a:ln xmlns:a="http://schemas.openxmlformats.org/drawingml/2006/main" w="11430">
            <a:solidFill>
              <a:srgbClr val="35A7FF"/>
            </a:solidFill>
            <a:prstDash val="solid"/>
          </a:ln>
        </p:spPr>
      </p:sp>
      <p:sp>
        <p:nvSpPr>
          <p:cNvPr id="28" name="">
            <a:extLst xmlns:a="http://schemas.openxmlformats.org/drawingml/2006/main">
              <a:ext uri="{FF2B5EF4-FFF2-40B4-BE49-F238E27FC236}">
                <a16:creationId xmlns:a16="http://schemas.microsoft.com/office/drawing/2014/main" id="{52595892-0EFC-4A5A-97DF-E9CE0B2C4DF5}"/>
              </a:ext>
            </a:extLst>
          </p:cNvPr>
          <p:cNvSpPr>
            <a:spLocks xmlns:a="http://schemas.openxmlformats.org/drawingml/2006/main" noGrp="1"/>
          </p:cNvSpPr>
          <p:nvPr/>
        </p:nvSpPr>
        <p:spPr>
          <a:xfrm xmlns:a="http://schemas.openxmlformats.org/drawingml/2006/main">
            <a:off x="6705600" y="3238500"/>
            <a:ext cx="2571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4F9FF"/>
                </a:solidFill>
                <a:latin typeface="Aptos"/>
                <a:ea typeface="Aptos"/>
                <a:cs typeface="Aptos"/>
              </a:defRPr>
            </a:pPr>
            <a:r>
              <a:rPr sz="1725" b="1">
                <a:solidFill>
                  <a:srgbClr val="F4F9FF"/>
                </a:solidFill>
                <a:latin typeface="Aptos"/>
                <a:ea typeface="Aptos"/>
                <a:cs typeface="Aptos"/>
              </a:rPr>
              <a:t>Communication gap</a:t>
            </a:r>
          </a:p>
        </p:txBody>
      </p:sp>
      <p:sp>
        <p:nvSpPr>
          <p:cNvPr id="29" name="">
            <a:extLst xmlns:a="http://schemas.openxmlformats.org/drawingml/2006/main">
              <a:ext uri="{FF2B5EF4-FFF2-40B4-BE49-F238E27FC236}">
                <a16:creationId xmlns:a16="http://schemas.microsoft.com/office/drawing/2014/main" id="{1238CF85-559A-4584-B7C7-C910941AFB2F}"/>
              </a:ext>
            </a:extLst>
          </p:cNvPr>
          <p:cNvSpPr>
            <a:spLocks xmlns:a="http://schemas.openxmlformats.org/drawingml/2006/main" noGrp="1"/>
          </p:cNvSpPr>
          <p:nvPr/>
        </p:nvSpPr>
        <p:spPr>
          <a:xfrm xmlns:a="http://schemas.openxmlformats.org/drawingml/2006/main">
            <a:off x="6705600" y="3676650"/>
            <a:ext cx="2286000" cy="38100"/>
          </a:xfrm>
          <a:prstGeom xmlns:a="http://schemas.openxmlformats.org/drawingml/2006/main" prst="rect">
            <a:avLst/>
          </a:prstGeom>
          <a:solidFill xmlns:a="http://schemas.openxmlformats.org/drawingml/2006/main">
            <a:srgbClr val="FFD166"/>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28BAB784-BE6A-412A-9535-2BA8DF9BA0B9}"/>
              </a:ext>
            </a:extLst>
          </p:cNvPr>
          <p:cNvSpPr>
            <a:spLocks xmlns:a="http://schemas.openxmlformats.org/drawingml/2006/main" noGrp="1"/>
          </p:cNvSpPr>
          <p:nvPr/>
        </p:nvSpPr>
        <p:spPr>
          <a:xfrm xmlns:a="http://schemas.openxmlformats.org/drawingml/2006/main">
            <a:off x="6705600" y="3981450"/>
            <a:ext cx="24765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8BED6"/>
                </a:solidFill>
                <a:latin typeface="Aptos"/>
                <a:ea typeface="Aptos"/>
                <a:cs typeface="Aptos"/>
              </a:defRPr>
            </a:pPr>
            <a:r>
              <a:rPr sz="1500" b="0">
                <a:solidFill>
                  <a:srgbClr val="A8BED6"/>
                </a:solidFill>
                <a:latin typeface="Aptos"/>
                <a:ea typeface="Aptos"/>
                <a:cs typeface="Aptos"/>
              </a:rPr>
              <a:t>A multilingual project team needs shared understanding without forcing everyone into one language.</a:t>
            </a:r>
          </a:p>
        </p:txBody>
      </p:sp>
      <p:sp>
        <p:nvSpPr>
          <p:cNvPr id="31" name="">
            <a:extLst xmlns:a="http://schemas.openxmlformats.org/drawingml/2006/main">
              <a:ext uri="{FF2B5EF4-FFF2-40B4-BE49-F238E27FC236}">
                <a16:creationId xmlns:a16="http://schemas.microsoft.com/office/drawing/2014/main" id="{F03818A4-D2A2-439D-8A3A-2232A7DD3817}"/>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83F27F91-0E61-4051-A548-E62FF45D0806}"/>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Translation uses Azure Translator API with fallback; summary is local mock AI; persistent storage target is Azure Cosmos DB.</a:t>
            </a:r>
          </a:p>
        </p:txBody>
      </p:sp>
    </p:spTree>
    <p:extLst>
      <p:ext uri="{BB962C8B-B14F-4D97-AF65-F5344CB8AC3E}">
        <p14:creationId xmlns:p14="http://schemas.microsoft.com/office/powerpoint/2010/main" val="151839301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C9FDB5-2A03-47F6-B9A1-45A1BFD98A8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DC5803C-FCA3-4CEF-9935-6540F33B5B55}"/>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99F47F7-3183-4008-B246-324A51978DA4}"/>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BC3AD13-FFFD-4D13-84D7-7B126F78F4C1}"/>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87EFA8F-FF84-4B02-A49D-DED1330A961A}"/>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8B1328FE-F06D-4424-8ECA-6171804118C6}"/>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34AEFC31-6DF6-4F64-9895-F79F7B8EE390}"/>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137F288-89DB-4E9A-848B-4E23E918B66C}"/>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AD5F455-F0F9-4248-8659-9442E747CF86}"/>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DCBBF1D2-F60B-4D9B-95CC-989DEF3FC242}"/>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898E77E-C952-4B86-9B04-F8EEA0359F62}"/>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35FD8D3A-27B1-4FF1-9C64-2B40EFE7C3ED}"/>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3-label">
            <a:extLst xmlns:a="http://schemas.openxmlformats.org/drawingml/2006/main">
              <a:ext uri="{FF2B5EF4-FFF2-40B4-BE49-F238E27FC236}">
                <a16:creationId xmlns:a16="http://schemas.microsoft.com/office/drawing/2014/main" id="{5D414A55-31B7-48FF-8886-D413347AADE4}"/>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4DBF9003-3CD5-4187-B78A-BC55714DFC32}"/>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90A28B4E-432D-4078-B5B3-A69D638A8368}"/>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03</a:t>
            </a:r>
          </a:p>
        </p:txBody>
      </p:sp>
      <p:sp>
        <p:nvSpPr>
          <p:cNvPr id="16" name="kicker-3-label-main">
            <a:extLst xmlns:a="http://schemas.openxmlformats.org/drawingml/2006/main">
              <a:ext uri="{FF2B5EF4-FFF2-40B4-BE49-F238E27FC236}">
                <a16:creationId xmlns:a16="http://schemas.microsoft.com/office/drawing/2014/main" id="{0A12E4D5-F25C-4E53-8A8B-B33DF51D902A}"/>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OVERVIEW</a:t>
            </a:r>
          </a:p>
        </p:txBody>
      </p:sp>
      <p:sp>
        <p:nvSpPr>
          <p:cNvPr id="17" name="">
            <a:extLst xmlns:a="http://schemas.openxmlformats.org/drawingml/2006/main">
              <a:ext uri="{FF2B5EF4-FFF2-40B4-BE49-F238E27FC236}">
                <a16:creationId xmlns:a16="http://schemas.microsoft.com/office/drawing/2014/main" id="{5E1A5D64-9363-4203-AF0D-804514A91E5E}"/>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Linguabridge turns a chat room into a language-aware collaboration workspace.</a:t>
            </a:r>
          </a:p>
        </p:txBody>
      </p:sp>
      <p:sp>
        <p:nvSpPr>
          <p:cNvPr id="18" name="">
            <a:extLst xmlns:a="http://schemas.openxmlformats.org/drawingml/2006/main">
              <a:ext uri="{FF2B5EF4-FFF2-40B4-BE49-F238E27FC236}">
                <a16:creationId xmlns:a16="http://schemas.microsoft.com/office/drawing/2014/main" id="{3CFAB945-3BCC-4EEA-9888-AF77C4D12374}"/>
              </a:ext>
            </a:extLst>
          </p:cNvPr>
          <p:cNvSpPr>
            <a:spLocks xmlns:a="http://schemas.openxmlformats.org/drawingml/2006/main" noGrp="1"/>
          </p:cNvSpPr>
          <p:nvPr/>
        </p:nvSpPr>
        <p:spPr>
          <a:xfrm xmlns:a="http://schemas.openxmlformats.org/drawingml/2006/main">
            <a:off x="800100" y="2990850"/>
            <a:ext cx="96202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19" name="">
            <a:extLst xmlns:a="http://schemas.openxmlformats.org/drawingml/2006/main">
              <a:ext uri="{FF2B5EF4-FFF2-40B4-BE49-F238E27FC236}">
                <a16:creationId xmlns:a16="http://schemas.microsoft.com/office/drawing/2014/main" id="{DA5830F0-ABF7-4FC0-AD57-1324CA4F1844}"/>
              </a:ext>
            </a:extLst>
          </p:cNvPr>
          <p:cNvSpPr>
            <a:spLocks xmlns:a="http://schemas.openxmlformats.org/drawingml/2006/main" noGrp="1"/>
          </p:cNvSpPr>
          <p:nvPr/>
        </p:nvSpPr>
        <p:spPr>
          <a:xfrm xmlns:a="http://schemas.openxmlformats.org/drawingml/2006/main">
            <a:off x="800100" y="310515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A8C3F48-C72D-4342-A797-589A2DC429EA}"/>
              </a:ext>
            </a:extLst>
          </p:cNvPr>
          <p:cNvSpPr>
            <a:spLocks xmlns:a="http://schemas.openxmlformats.org/drawingml/2006/main" noGrp="1"/>
          </p:cNvSpPr>
          <p:nvPr/>
        </p:nvSpPr>
        <p:spPr>
          <a:xfrm xmlns:a="http://schemas.openxmlformats.org/drawingml/2006/main">
            <a:off x="1028700" y="3143250"/>
            <a:ext cx="923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Multi-user chat</a:t>
            </a:r>
          </a:p>
        </p:txBody>
      </p:sp>
      <p:sp>
        <p:nvSpPr>
          <p:cNvPr id="21" name="">
            <a:extLst xmlns:a="http://schemas.openxmlformats.org/drawingml/2006/main">
              <a:ext uri="{FF2B5EF4-FFF2-40B4-BE49-F238E27FC236}">
                <a16:creationId xmlns:a16="http://schemas.microsoft.com/office/drawing/2014/main" id="{29283C69-2F49-41D7-8FE1-02B980C840CA}"/>
              </a:ext>
            </a:extLst>
          </p:cNvPr>
          <p:cNvSpPr>
            <a:spLocks xmlns:a="http://schemas.openxmlformats.org/drawingml/2006/main" noGrp="1"/>
          </p:cNvSpPr>
          <p:nvPr/>
        </p:nvSpPr>
        <p:spPr>
          <a:xfrm xmlns:a="http://schemas.openxmlformats.org/drawingml/2006/main">
            <a:off x="800100" y="3619500"/>
            <a:ext cx="96202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2" name="">
            <a:extLst xmlns:a="http://schemas.openxmlformats.org/drawingml/2006/main">
              <a:ext uri="{FF2B5EF4-FFF2-40B4-BE49-F238E27FC236}">
                <a16:creationId xmlns:a16="http://schemas.microsoft.com/office/drawing/2014/main" id="{03CDC1ED-716A-4BA6-96B6-0239FBFC01E1}"/>
              </a:ext>
            </a:extLst>
          </p:cNvPr>
          <p:cNvSpPr>
            <a:spLocks xmlns:a="http://schemas.openxmlformats.org/drawingml/2006/main" noGrp="1"/>
          </p:cNvSpPr>
          <p:nvPr/>
        </p:nvSpPr>
        <p:spPr>
          <a:xfrm xmlns:a="http://schemas.openxmlformats.org/drawingml/2006/main">
            <a:off x="800100" y="3733800"/>
            <a:ext cx="38100" cy="304800"/>
          </a:xfrm>
          <a:prstGeom xmlns:a="http://schemas.openxmlformats.org/drawingml/2006/main" prst="rect">
            <a:avLst/>
          </a:prstGeom>
          <a:solidFill xmlns:a="http://schemas.openxmlformats.org/drawingml/2006/main">
            <a:srgbClr val="52E3A4"/>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0A1EA435-D912-4F03-A7E5-82BAE8D7CC3A}"/>
              </a:ext>
            </a:extLst>
          </p:cNvPr>
          <p:cNvSpPr>
            <a:spLocks xmlns:a="http://schemas.openxmlformats.org/drawingml/2006/main" noGrp="1"/>
          </p:cNvSpPr>
          <p:nvPr/>
        </p:nvSpPr>
        <p:spPr>
          <a:xfrm xmlns:a="http://schemas.openxmlformats.org/drawingml/2006/main">
            <a:off x="1028700" y="3771900"/>
            <a:ext cx="923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Per-user language preference</a:t>
            </a:r>
          </a:p>
        </p:txBody>
      </p:sp>
      <p:sp>
        <p:nvSpPr>
          <p:cNvPr id="24" name="">
            <a:extLst xmlns:a="http://schemas.openxmlformats.org/drawingml/2006/main">
              <a:ext uri="{FF2B5EF4-FFF2-40B4-BE49-F238E27FC236}">
                <a16:creationId xmlns:a16="http://schemas.microsoft.com/office/drawing/2014/main" id="{B26631F7-AF1F-4F8B-B964-5EAD5AA77FDA}"/>
              </a:ext>
            </a:extLst>
          </p:cNvPr>
          <p:cNvSpPr>
            <a:spLocks xmlns:a="http://schemas.openxmlformats.org/drawingml/2006/main" noGrp="1"/>
          </p:cNvSpPr>
          <p:nvPr/>
        </p:nvSpPr>
        <p:spPr>
          <a:xfrm xmlns:a="http://schemas.openxmlformats.org/drawingml/2006/main">
            <a:off x="800100" y="4248150"/>
            <a:ext cx="96202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5" name="">
            <a:extLst xmlns:a="http://schemas.openxmlformats.org/drawingml/2006/main">
              <a:ext uri="{FF2B5EF4-FFF2-40B4-BE49-F238E27FC236}">
                <a16:creationId xmlns:a16="http://schemas.microsoft.com/office/drawing/2014/main" id="{27EF70B9-04A3-48B7-BBD0-CF0D722258F8}"/>
              </a:ext>
            </a:extLst>
          </p:cNvPr>
          <p:cNvSpPr>
            <a:spLocks xmlns:a="http://schemas.openxmlformats.org/drawingml/2006/main" noGrp="1"/>
          </p:cNvSpPr>
          <p:nvPr/>
        </p:nvSpPr>
        <p:spPr>
          <a:xfrm xmlns:a="http://schemas.openxmlformats.org/drawingml/2006/main">
            <a:off x="800100" y="436245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B8FF3AE3-A0A0-4794-8935-B7419CE37312}"/>
              </a:ext>
            </a:extLst>
          </p:cNvPr>
          <p:cNvSpPr>
            <a:spLocks xmlns:a="http://schemas.openxmlformats.org/drawingml/2006/main" noGrp="1"/>
          </p:cNvSpPr>
          <p:nvPr/>
        </p:nvSpPr>
        <p:spPr>
          <a:xfrm xmlns:a="http://schemas.openxmlformats.org/drawingml/2006/main">
            <a:off x="1028700" y="4400550"/>
            <a:ext cx="923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Receiver-specific translation</a:t>
            </a:r>
          </a:p>
        </p:txBody>
      </p:sp>
      <p:sp>
        <p:nvSpPr>
          <p:cNvPr id="27" name="">
            <a:extLst xmlns:a="http://schemas.openxmlformats.org/drawingml/2006/main">
              <a:ext uri="{FF2B5EF4-FFF2-40B4-BE49-F238E27FC236}">
                <a16:creationId xmlns:a16="http://schemas.microsoft.com/office/drawing/2014/main" id="{E468317D-CD03-4677-8992-ABEEDE3C4A61}"/>
              </a:ext>
            </a:extLst>
          </p:cNvPr>
          <p:cNvSpPr>
            <a:spLocks xmlns:a="http://schemas.openxmlformats.org/drawingml/2006/main" noGrp="1"/>
          </p:cNvSpPr>
          <p:nvPr/>
        </p:nvSpPr>
        <p:spPr>
          <a:xfrm xmlns:a="http://schemas.openxmlformats.org/drawingml/2006/main">
            <a:off x="800100" y="4876800"/>
            <a:ext cx="96202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8" name="">
            <a:extLst xmlns:a="http://schemas.openxmlformats.org/drawingml/2006/main">
              <a:ext uri="{FF2B5EF4-FFF2-40B4-BE49-F238E27FC236}">
                <a16:creationId xmlns:a16="http://schemas.microsoft.com/office/drawing/2014/main" id="{C0F9C9AA-5267-4E32-8FD1-876744F4CD7B}"/>
              </a:ext>
            </a:extLst>
          </p:cNvPr>
          <p:cNvSpPr>
            <a:spLocks xmlns:a="http://schemas.openxmlformats.org/drawingml/2006/main" noGrp="1"/>
          </p:cNvSpPr>
          <p:nvPr/>
        </p:nvSpPr>
        <p:spPr>
          <a:xfrm xmlns:a="http://schemas.openxmlformats.org/drawingml/2006/main">
            <a:off x="800100" y="4991100"/>
            <a:ext cx="38100" cy="304800"/>
          </a:xfrm>
          <a:prstGeom xmlns:a="http://schemas.openxmlformats.org/drawingml/2006/main" prst="rect">
            <a:avLst/>
          </a:prstGeom>
          <a:solidFill xmlns:a="http://schemas.openxmlformats.org/drawingml/2006/main">
            <a:srgbClr val="52E3A4"/>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CF28C036-2173-469B-9ACB-2016851CDDD7}"/>
              </a:ext>
            </a:extLst>
          </p:cNvPr>
          <p:cNvSpPr>
            <a:spLocks xmlns:a="http://schemas.openxmlformats.org/drawingml/2006/main" noGrp="1"/>
          </p:cNvSpPr>
          <p:nvPr/>
        </p:nvSpPr>
        <p:spPr>
          <a:xfrm xmlns:a="http://schemas.openxmlformats.org/drawingml/2006/main">
            <a:off x="1028700" y="5029200"/>
            <a:ext cx="923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Conversation memory</a:t>
            </a:r>
          </a:p>
        </p:txBody>
      </p:sp>
      <p:sp>
        <p:nvSpPr>
          <p:cNvPr id="30" name="">
            <a:extLst xmlns:a="http://schemas.openxmlformats.org/drawingml/2006/main">
              <a:ext uri="{FF2B5EF4-FFF2-40B4-BE49-F238E27FC236}">
                <a16:creationId xmlns:a16="http://schemas.microsoft.com/office/drawing/2014/main" id="{6BB9C8FB-D3CF-4FC0-BF9D-7A4B90E6E4D2}"/>
              </a:ext>
            </a:extLst>
          </p:cNvPr>
          <p:cNvSpPr>
            <a:spLocks xmlns:a="http://schemas.openxmlformats.org/drawingml/2006/main" noGrp="1"/>
          </p:cNvSpPr>
          <p:nvPr/>
        </p:nvSpPr>
        <p:spPr>
          <a:xfrm xmlns:a="http://schemas.openxmlformats.org/drawingml/2006/main">
            <a:off x="800100" y="5505450"/>
            <a:ext cx="96202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31" name="">
            <a:extLst xmlns:a="http://schemas.openxmlformats.org/drawingml/2006/main">
              <a:ext uri="{FF2B5EF4-FFF2-40B4-BE49-F238E27FC236}">
                <a16:creationId xmlns:a16="http://schemas.microsoft.com/office/drawing/2014/main" id="{0D8836B5-CB53-4DF6-8774-D43B5482C779}"/>
              </a:ext>
            </a:extLst>
          </p:cNvPr>
          <p:cNvSpPr>
            <a:spLocks xmlns:a="http://schemas.openxmlformats.org/drawingml/2006/main" noGrp="1"/>
          </p:cNvSpPr>
          <p:nvPr/>
        </p:nvSpPr>
        <p:spPr>
          <a:xfrm xmlns:a="http://schemas.openxmlformats.org/drawingml/2006/main">
            <a:off x="800100" y="561975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B592A8D7-9A94-4471-B4F2-0AB3045CEDED}"/>
              </a:ext>
            </a:extLst>
          </p:cNvPr>
          <p:cNvSpPr>
            <a:spLocks xmlns:a="http://schemas.openxmlformats.org/drawingml/2006/main" noGrp="1"/>
          </p:cNvSpPr>
          <p:nvPr/>
        </p:nvSpPr>
        <p:spPr>
          <a:xfrm xmlns:a="http://schemas.openxmlformats.org/drawingml/2006/main">
            <a:off x="1028700" y="5657850"/>
            <a:ext cx="923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AI-style summary</a:t>
            </a:r>
          </a:p>
        </p:txBody>
      </p:sp>
      <p:sp>
        <p:nvSpPr>
          <p:cNvPr id="33" name="">
            <a:extLst xmlns:a="http://schemas.openxmlformats.org/drawingml/2006/main">
              <a:ext uri="{FF2B5EF4-FFF2-40B4-BE49-F238E27FC236}">
                <a16:creationId xmlns:a16="http://schemas.microsoft.com/office/drawing/2014/main" id="{22F289C9-F516-4AA9-B228-E8679C92F98D}"/>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7E961ED0-9E89-406C-9AA0-2989B1EB23EF}"/>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Translation uses Azure Translator API with fallback; summary is local mock AI; persistent storage target is Azure Cosmos DB.</a:t>
            </a:r>
          </a:p>
        </p:txBody>
      </p:sp>
    </p:spTree>
    <p:extLst>
      <p:ext uri="{BB962C8B-B14F-4D97-AF65-F5344CB8AC3E}">
        <p14:creationId xmlns:p14="http://schemas.microsoft.com/office/powerpoint/2010/main" val="123164333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E3D5ED-49BB-45C1-8E54-1F239FFCC46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0C3B279-1D4D-492A-8841-1DA6DF11C5FA}"/>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A656C6D-FD48-49FF-94C1-96526CDED181}"/>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1BC2DB0-E2F7-45B7-B87A-436DD8975233}"/>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3E4FFF7-8254-42A6-A260-B56AB35F31B7}"/>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81CE514-A5F7-4913-BF83-5FBFCE3C335A}"/>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0C3F912-990D-4035-9656-7B531A89A1AE}"/>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476C4AD-4F5C-4006-A0C9-BEC85EBC6ABC}"/>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480078B-AE11-4E28-829E-751ECB0BEA75}"/>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5DB9D29-CEBC-4A02-8955-6F14377AABE0}"/>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594A633-8127-4D80-BF52-E77E1D94E522}"/>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58E6F48-B1F2-48E2-B4A5-65B7D6148E90}"/>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4-label">
            <a:extLst xmlns:a="http://schemas.openxmlformats.org/drawingml/2006/main">
              <a:ext uri="{FF2B5EF4-FFF2-40B4-BE49-F238E27FC236}">
                <a16:creationId xmlns:a16="http://schemas.microsoft.com/office/drawing/2014/main" id="{06D7A406-473F-4C93-8D20-44786CFC79E3}"/>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C57E9FB2-3869-404A-BB70-9AD3DFE6524D}"/>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ADEA5C38-A59C-477C-BA73-01E95301D136}"/>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04</a:t>
            </a:r>
          </a:p>
        </p:txBody>
      </p:sp>
      <p:sp>
        <p:nvSpPr>
          <p:cNvPr id="16" name="kicker-4-label-main">
            <a:extLst xmlns:a="http://schemas.openxmlformats.org/drawingml/2006/main">
              <a:ext uri="{FF2B5EF4-FFF2-40B4-BE49-F238E27FC236}">
                <a16:creationId xmlns:a16="http://schemas.microsoft.com/office/drawing/2014/main" id="{C539B630-7BC7-43EE-8270-53286EAB100B}"/>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ARCHITECTURE</a:t>
            </a:r>
          </a:p>
        </p:txBody>
      </p:sp>
      <p:sp>
        <p:nvSpPr>
          <p:cNvPr id="17" name="">
            <a:extLst xmlns:a="http://schemas.openxmlformats.org/drawingml/2006/main">
              <a:ext uri="{FF2B5EF4-FFF2-40B4-BE49-F238E27FC236}">
                <a16:creationId xmlns:a16="http://schemas.microsoft.com/office/drawing/2014/main" id="{5D7D7F91-0313-42E7-8F9C-1A1FB92E812B}"/>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The prototype separates the user interface, chat API, translation layer, and storage boundary.</a:t>
            </a:r>
          </a:p>
        </p:txBody>
      </p:sp>
      <p:sp>
        <p:nvSpPr>
          <p:cNvPr id="18" name="">
            <a:extLst xmlns:a="http://schemas.openxmlformats.org/drawingml/2006/main">
              <a:ext uri="{FF2B5EF4-FFF2-40B4-BE49-F238E27FC236}">
                <a16:creationId xmlns:a16="http://schemas.microsoft.com/office/drawing/2014/main" id="{1B8B7E50-C93D-45CE-B97F-1B9BCDCF7CE8}"/>
              </a:ext>
            </a:extLst>
          </p:cNvPr>
          <p:cNvSpPr>
            <a:spLocks xmlns:a="http://schemas.openxmlformats.org/drawingml/2006/main" noGrp="1"/>
          </p:cNvSpPr>
          <p:nvPr/>
        </p:nvSpPr>
        <p:spPr>
          <a:xfrm xmlns:a="http://schemas.openxmlformats.org/drawingml/2006/main">
            <a:off x="800100" y="3028950"/>
            <a:ext cx="1562100" cy="1066800"/>
          </a:xfrm>
          <a:prstGeom xmlns:a="http://schemas.openxmlformats.org/drawingml/2006/main" prst="roundRect">
            <a:avLst>
              <a:gd name="adj" fmla="val 7143"/>
            </a:avLst>
          </a:prstGeom>
          <a:solidFill xmlns:a="http://schemas.openxmlformats.org/drawingml/2006/main">
            <a:srgbClr val="0D2B4C"/>
          </a:solidFill>
          <a:ln xmlns:a="http://schemas.openxmlformats.org/drawingml/2006/main" w="13335">
            <a:solidFill>
              <a:srgbClr val="35A7FF"/>
            </a:solidFill>
            <a:prstDash val="solid"/>
          </a:ln>
        </p:spPr>
      </p:sp>
      <p:sp>
        <p:nvSpPr>
          <p:cNvPr id="19" name="">
            <a:extLst xmlns:a="http://schemas.openxmlformats.org/drawingml/2006/main">
              <a:ext uri="{FF2B5EF4-FFF2-40B4-BE49-F238E27FC236}">
                <a16:creationId xmlns:a16="http://schemas.microsoft.com/office/drawing/2014/main" id="{92CF70D4-60E1-4C5C-91DC-F9B827BB5605}"/>
              </a:ext>
            </a:extLst>
          </p:cNvPr>
          <p:cNvSpPr>
            <a:spLocks xmlns:a="http://schemas.openxmlformats.org/drawingml/2006/main" noGrp="1"/>
          </p:cNvSpPr>
          <p:nvPr/>
        </p:nvSpPr>
        <p:spPr>
          <a:xfrm xmlns:a="http://schemas.openxmlformats.org/drawingml/2006/main">
            <a:off x="952500" y="32385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User devices</a:t>
            </a:r>
          </a:p>
        </p:txBody>
      </p:sp>
      <p:sp>
        <p:nvSpPr>
          <p:cNvPr id="20" name="">
            <a:extLst xmlns:a="http://schemas.openxmlformats.org/drawingml/2006/main">
              <a:ext uri="{FF2B5EF4-FFF2-40B4-BE49-F238E27FC236}">
                <a16:creationId xmlns:a16="http://schemas.microsoft.com/office/drawing/2014/main" id="{1AD80F35-3150-4F2A-8520-DB704A3828B5}"/>
              </a:ext>
            </a:extLst>
          </p:cNvPr>
          <p:cNvSpPr>
            <a:spLocks xmlns:a="http://schemas.openxmlformats.org/drawingml/2006/main" noGrp="1"/>
          </p:cNvSpPr>
          <p:nvPr/>
        </p:nvSpPr>
        <p:spPr>
          <a:xfrm xmlns:a="http://schemas.openxmlformats.org/drawingml/2006/main">
            <a:off x="952500" y="35814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8BED6"/>
                </a:solidFill>
                <a:latin typeface="Aptos"/>
                <a:ea typeface="Aptos"/>
                <a:cs typeface="Aptos"/>
              </a:defRPr>
            </a:pPr>
            <a:r>
              <a:rPr sz="900" b="0">
                <a:solidFill>
                  <a:srgbClr val="A8BED6"/>
                </a:solidFill>
                <a:latin typeface="Aptos"/>
                <a:ea typeface="Aptos"/>
                <a:cs typeface="Aptos"/>
              </a:rPr>
              <a:t>Browser UI</a:t>
            </a:r>
          </a:p>
        </p:txBody>
      </p:sp>
      <p:sp>
        <p:nvSpPr>
          <p:cNvPr id="21" name="">
            <a:extLst xmlns:a="http://schemas.openxmlformats.org/drawingml/2006/main">
              <a:ext uri="{FF2B5EF4-FFF2-40B4-BE49-F238E27FC236}">
                <a16:creationId xmlns:a16="http://schemas.microsoft.com/office/drawing/2014/main" id="{214FBE62-A15B-4F65-86B0-AB9F89B2C1A9}"/>
              </a:ext>
            </a:extLst>
          </p:cNvPr>
          <p:cNvSpPr>
            <a:spLocks xmlns:a="http://schemas.openxmlformats.org/drawingml/2006/main" noGrp="1"/>
          </p:cNvSpPr>
          <p:nvPr/>
        </p:nvSpPr>
        <p:spPr>
          <a:xfrm xmlns:a="http://schemas.openxmlformats.org/drawingml/2006/main">
            <a:off x="3028950" y="3028950"/>
            <a:ext cx="1562100" cy="1066800"/>
          </a:xfrm>
          <a:prstGeom xmlns:a="http://schemas.openxmlformats.org/drawingml/2006/main" prst="roundRect">
            <a:avLst>
              <a:gd name="adj" fmla="val 7143"/>
            </a:avLst>
          </a:prstGeom>
          <a:solidFill xmlns:a="http://schemas.openxmlformats.org/drawingml/2006/main">
            <a:srgbClr val="0D2B4C"/>
          </a:solidFill>
          <a:ln xmlns:a="http://schemas.openxmlformats.org/drawingml/2006/main" w="13335">
            <a:solidFill>
              <a:srgbClr val="5EE7DF"/>
            </a:solidFill>
            <a:prstDash val="solid"/>
          </a:ln>
        </p:spPr>
      </p:sp>
      <p:sp>
        <p:nvSpPr>
          <p:cNvPr id="22" name="">
            <a:extLst xmlns:a="http://schemas.openxmlformats.org/drawingml/2006/main">
              <a:ext uri="{FF2B5EF4-FFF2-40B4-BE49-F238E27FC236}">
                <a16:creationId xmlns:a16="http://schemas.microsoft.com/office/drawing/2014/main" id="{27120D5D-890F-4280-8BE5-E4A45C6B3675}"/>
              </a:ext>
            </a:extLst>
          </p:cNvPr>
          <p:cNvSpPr>
            <a:spLocks xmlns:a="http://schemas.openxmlformats.org/drawingml/2006/main" noGrp="1"/>
          </p:cNvSpPr>
          <p:nvPr/>
        </p:nvSpPr>
        <p:spPr>
          <a:xfrm xmlns:a="http://schemas.openxmlformats.org/drawingml/2006/main">
            <a:off x="3181350" y="32385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Chat API</a:t>
            </a:r>
          </a:p>
        </p:txBody>
      </p:sp>
      <p:sp>
        <p:nvSpPr>
          <p:cNvPr id="23" name="">
            <a:extLst xmlns:a="http://schemas.openxmlformats.org/drawingml/2006/main">
              <a:ext uri="{FF2B5EF4-FFF2-40B4-BE49-F238E27FC236}">
                <a16:creationId xmlns:a16="http://schemas.microsoft.com/office/drawing/2014/main" id="{9E467D0A-0465-496E-B34A-F903302CAD38}"/>
              </a:ext>
            </a:extLst>
          </p:cNvPr>
          <p:cNvSpPr>
            <a:spLocks xmlns:a="http://schemas.openxmlformats.org/drawingml/2006/main" noGrp="1"/>
          </p:cNvSpPr>
          <p:nvPr/>
        </p:nvSpPr>
        <p:spPr>
          <a:xfrm xmlns:a="http://schemas.openxmlformats.org/drawingml/2006/main">
            <a:off x="3181350" y="35814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8BED6"/>
                </a:solidFill>
                <a:latin typeface="Aptos"/>
                <a:ea typeface="Aptos"/>
                <a:cs typeface="Aptos"/>
              </a:defRPr>
            </a:pPr>
            <a:r>
              <a:rPr sz="900" b="0">
                <a:solidFill>
                  <a:srgbClr val="A8BED6"/>
                </a:solidFill>
                <a:latin typeface="Aptos"/>
                <a:ea typeface="Aptos"/>
                <a:cs typeface="Aptos"/>
              </a:rPr>
              <a:t>Node backend</a:t>
            </a:r>
          </a:p>
        </p:txBody>
      </p:sp>
      <p:sp>
        <p:nvSpPr>
          <p:cNvPr id="24" name="">
            <a:extLst xmlns:a="http://schemas.openxmlformats.org/drawingml/2006/main">
              <a:ext uri="{FF2B5EF4-FFF2-40B4-BE49-F238E27FC236}">
                <a16:creationId xmlns:a16="http://schemas.microsoft.com/office/drawing/2014/main" id="{4A70A1A7-FD63-4971-9D78-01E6DDA17949}"/>
              </a:ext>
            </a:extLst>
          </p:cNvPr>
          <p:cNvSpPr>
            <a:spLocks xmlns:a="http://schemas.openxmlformats.org/drawingml/2006/main" noGrp="1"/>
          </p:cNvSpPr>
          <p:nvPr/>
        </p:nvSpPr>
        <p:spPr>
          <a:xfrm xmlns:a="http://schemas.openxmlformats.org/drawingml/2006/main">
            <a:off x="5257800" y="3028950"/>
            <a:ext cx="1562100" cy="1066800"/>
          </a:xfrm>
          <a:prstGeom xmlns:a="http://schemas.openxmlformats.org/drawingml/2006/main" prst="roundRect">
            <a:avLst>
              <a:gd name="adj" fmla="val 7143"/>
            </a:avLst>
          </a:prstGeom>
          <a:solidFill xmlns:a="http://schemas.openxmlformats.org/drawingml/2006/main">
            <a:srgbClr val="0D2B4C"/>
          </a:solidFill>
          <a:ln xmlns:a="http://schemas.openxmlformats.org/drawingml/2006/main" w="13335">
            <a:solidFill>
              <a:srgbClr val="8B7CFF"/>
            </a:solidFill>
            <a:prstDash val="solid"/>
          </a:ln>
        </p:spPr>
      </p:sp>
      <p:sp>
        <p:nvSpPr>
          <p:cNvPr id="25" name="">
            <a:extLst xmlns:a="http://schemas.openxmlformats.org/drawingml/2006/main">
              <a:ext uri="{FF2B5EF4-FFF2-40B4-BE49-F238E27FC236}">
                <a16:creationId xmlns:a16="http://schemas.microsoft.com/office/drawing/2014/main" id="{70F334E2-629E-4F40-8A64-D190495F1242}"/>
              </a:ext>
            </a:extLst>
          </p:cNvPr>
          <p:cNvSpPr>
            <a:spLocks xmlns:a="http://schemas.openxmlformats.org/drawingml/2006/main" noGrp="1"/>
          </p:cNvSpPr>
          <p:nvPr/>
        </p:nvSpPr>
        <p:spPr>
          <a:xfrm xmlns:a="http://schemas.openxmlformats.org/drawingml/2006/main">
            <a:off x="5410200" y="32385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Translator</a:t>
            </a:r>
          </a:p>
        </p:txBody>
      </p:sp>
      <p:sp>
        <p:nvSpPr>
          <p:cNvPr id="26" name="">
            <a:extLst xmlns:a="http://schemas.openxmlformats.org/drawingml/2006/main">
              <a:ext uri="{FF2B5EF4-FFF2-40B4-BE49-F238E27FC236}">
                <a16:creationId xmlns:a16="http://schemas.microsoft.com/office/drawing/2014/main" id="{56564A65-81DC-49CD-A980-10D6ECA14BB4}"/>
              </a:ext>
            </a:extLst>
          </p:cNvPr>
          <p:cNvSpPr>
            <a:spLocks xmlns:a="http://schemas.openxmlformats.org/drawingml/2006/main" noGrp="1"/>
          </p:cNvSpPr>
          <p:nvPr/>
        </p:nvSpPr>
        <p:spPr>
          <a:xfrm xmlns:a="http://schemas.openxmlformats.org/drawingml/2006/main">
            <a:off x="5410200" y="35814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8BED6"/>
                </a:solidFill>
                <a:latin typeface="Aptos"/>
                <a:ea typeface="Aptos"/>
                <a:cs typeface="Aptos"/>
              </a:defRPr>
            </a:pPr>
            <a:r>
              <a:rPr sz="900" b="0">
                <a:solidFill>
                  <a:srgbClr val="A8BED6"/>
                </a:solidFill>
                <a:latin typeface="Aptos"/>
                <a:ea typeface="Aptos"/>
                <a:cs typeface="Aptos"/>
              </a:rPr>
              <a:t>Azure API + fallback</a:t>
            </a:r>
          </a:p>
        </p:txBody>
      </p:sp>
      <p:sp>
        <p:nvSpPr>
          <p:cNvPr id="27" name="">
            <a:extLst xmlns:a="http://schemas.openxmlformats.org/drawingml/2006/main">
              <a:ext uri="{FF2B5EF4-FFF2-40B4-BE49-F238E27FC236}">
                <a16:creationId xmlns:a16="http://schemas.microsoft.com/office/drawing/2014/main" id="{8A08534D-CEE5-4315-A534-3B8651E22857}"/>
              </a:ext>
            </a:extLst>
          </p:cNvPr>
          <p:cNvSpPr>
            <a:spLocks xmlns:a="http://schemas.openxmlformats.org/drawingml/2006/main" noGrp="1"/>
          </p:cNvSpPr>
          <p:nvPr/>
        </p:nvSpPr>
        <p:spPr>
          <a:xfrm xmlns:a="http://schemas.openxmlformats.org/drawingml/2006/main">
            <a:off x="7486650" y="3028950"/>
            <a:ext cx="1562100" cy="1066800"/>
          </a:xfrm>
          <a:prstGeom xmlns:a="http://schemas.openxmlformats.org/drawingml/2006/main" prst="roundRect">
            <a:avLst>
              <a:gd name="adj" fmla="val 7143"/>
            </a:avLst>
          </a:prstGeom>
          <a:solidFill xmlns:a="http://schemas.openxmlformats.org/drawingml/2006/main">
            <a:srgbClr val="0D2B4C"/>
          </a:solidFill>
          <a:ln xmlns:a="http://schemas.openxmlformats.org/drawingml/2006/main" w="13335">
            <a:solidFill>
              <a:srgbClr val="52E3A4"/>
            </a:solidFill>
            <a:prstDash val="solid"/>
          </a:ln>
        </p:spPr>
      </p:sp>
      <p:sp>
        <p:nvSpPr>
          <p:cNvPr id="28" name="">
            <a:extLst xmlns:a="http://schemas.openxmlformats.org/drawingml/2006/main">
              <a:ext uri="{FF2B5EF4-FFF2-40B4-BE49-F238E27FC236}">
                <a16:creationId xmlns:a16="http://schemas.microsoft.com/office/drawing/2014/main" id="{3B08F21D-F9C4-46F6-8BE8-64D5CFDFA8F5}"/>
              </a:ext>
            </a:extLst>
          </p:cNvPr>
          <p:cNvSpPr>
            <a:spLocks xmlns:a="http://schemas.openxmlformats.org/drawingml/2006/main" noGrp="1"/>
          </p:cNvSpPr>
          <p:nvPr/>
        </p:nvSpPr>
        <p:spPr>
          <a:xfrm xmlns:a="http://schemas.openxmlformats.org/drawingml/2006/main">
            <a:off x="7639050" y="32385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Memory store</a:t>
            </a:r>
          </a:p>
        </p:txBody>
      </p:sp>
      <p:sp>
        <p:nvSpPr>
          <p:cNvPr id="29" name="">
            <a:extLst xmlns:a="http://schemas.openxmlformats.org/drawingml/2006/main">
              <a:ext uri="{FF2B5EF4-FFF2-40B4-BE49-F238E27FC236}">
                <a16:creationId xmlns:a16="http://schemas.microsoft.com/office/drawing/2014/main" id="{D6ECDDF2-CDAC-46BF-9A7E-BB050D23E9D1}"/>
              </a:ext>
            </a:extLst>
          </p:cNvPr>
          <p:cNvSpPr>
            <a:spLocks xmlns:a="http://schemas.openxmlformats.org/drawingml/2006/main" noGrp="1"/>
          </p:cNvSpPr>
          <p:nvPr/>
        </p:nvSpPr>
        <p:spPr>
          <a:xfrm xmlns:a="http://schemas.openxmlformats.org/drawingml/2006/main">
            <a:off x="7639050" y="35814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8BED6"/>
                </a:solidFill>
                <a:latin typeface="Aptos"/>
                <a:ea typeface="Aptos"/>
                <a:cs typeface="Aptos"/>
              </a:defRPr>
            </a:pPr>
            <a:r>
              <a:rPr sz="900" b="0">
                <a:solidFill>
                  <a:srgbClr val="A8BED6"/>
                </a:solidFill>
                <a:latin typeface="Aptos"/>
                <a:ea typeface="Aptos"/>
                <a:cs typeface="Aptos"/>
              </a:rPr>
              <a:t>Structured messages</a:t>
            </a:r>
          </a:p>
        </p:txBody>
      </p:sp>
      <p:sp>
        <p:nvSpPr>
          <p:cNvPr id="30" name="">
            <a:extLst xmlns:a="http://schemas.openxmlformats.org/drawingml/2006/main">
              <a:ext uri="{FF2B5EF4-FFF2-40B4-BE49-F238E27FC236}">
                <a16:creationId xmlns:a16="http://schemas.microsoft.com/office/drawing/2014/main" id="{B7A22623-283F-4381-B03A-EB11670014B1}"/>
              </a:ext>
            </a:extLst>
          </p:cNvPr>
          <p:cNvSpPr>
            <a:spLocks xmlns:a="http://schemas.openxmlformats.org/drawingml/2006/main" noGrp="1"/>
          </p:cNvSpPr>
          <p:nvPr/>
        </p:nvSpPr>
        <p:spPr>
          <a:xfrm xmlns:a="http://schemas.openxmlformats.org/drawingml/2006/main">
            <a:off x="9715500" y="3028950"/>
            <a:ext cx="1562100" cy="1066800"/>
          </a:xfrm>
          <a:prstGeom xmlns:a="http://schemas.openxmlformats.org/drawingml/2006/main" prst="roundRect">
            <a:avLst>
              <a:gd name="adj" fmla="val 7143"/>
            </a:avLst>
          </a:prstGeom>
          <a:solidFill xmlns:a="http://schemas.openxmlformats.org/drawingml/2006/main">
            <a:srgbClr val="0D2B4C"/>
          </a:solidFill>
          <a:ln xmlns:a="http://schemas.openxmlformats.org/drawingml/2006/main" w="13335">
            <a:solidFill>
              <a:srgbClr val="FFD166"/>
            </a:solidFill>
            <a:prstDash val="solid"/>
          </a:ln>
        </p:spPr>
      </p:sp>
      <p:sp>
        <p:nvSpPr>
          <p:cNvPr id="31" name="">
            <a:extLst xmlns:a="http://schemas.openxmlformats.org/drawingml/2006/main">
              <a:ext uri="{FF2B5EF4-FFF2-40B4-BE49-F238E27FC236}">
                <a16:creationId xmlns:a16="http://schemas.microsoft.com/office/drawing/2014/main" id="{9D1D4BEB-E1C1-4C43-9449-6C39F946A09F}"/>
              </a:ext>
            </a:extLst>
          </p:cNvPr>
          <p:cNvSpPr>
            <a:spLocks xmlns:a="http://schemas.openxmlformats.org/drawingml/2006/main" noGrp="1"/>
          </p:cNvSpPr>
          <p:nvPr/>
        </p:nvSpPr>
        <p:spPr>
          <a:xfrm xmlns:a="http://schemas.openxmlformats.org/drawingml/2006/main">
            <a:off x="9867900" y="32385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Azure services</a:t>
            </a:r>
          </a:p>
        </p:txBody>
      </p:sp>
      <p:sp>
        <p:nvSpPr>
          <p:cNvPr id="32" name="">
            <a:extLst xmlns:a="http://schemas.openxmlformats.org/drawingml/2006/main">
              <a:ext uri="{FF2B5EF4-FFF2-40B4-BE49-F238E27FC236}">
                <a16:creationId xmlns:a16="http://schemas.microsoft.com/office/drawing/2014/main" id="{6718484C-D25A-4EF0-83B8-1473A7723482}"/>
              </a:ext>
            </a:extLst>
          </p:cNvPr>
          <p:cNvSpPr>
            <a:spLocks xmlns:a="http://schemas.openxmlformats.org/drawingml/2006/main" noGrp="1"/>
          </p:cNvSpPr>
          <p:nvPr/>
        </p:nvSpPr>
        <p:spPr>
          <a:xfrm xmlns:a="http://schemas.openxmlformats.org/drawingml/2006/main">
            <a:off x="9867900" y="35814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8BED6"/>
                </a:solidFill>
                <a:latin typeface="Aptos"/>
                <a:ea typeface="Aptos"/>
                <a:cs typeface="Aptos"/>
              </a:defRPr>
            </a:pPr>
            <a:r>
              <a:rPr sz="900" b="0">
                <a:solidFill>
                  <a:srgbClr val="A8BED6"/>
                </a:solidFill>
                <a:latin typeface="Aptos"/>
                <a:ea typeface="Aptos"/>
                <a:cs typeface="Aptos"/>
              </a:rPr>
              <a:t>Production target</a:t>
            </a:r>
          </a:p>
        </p:txBody>
      </p:sp>
      <p:sp>
        <p:nvSpPr>
          <p:cNvPr id="33" name="">
            <a:extLst xmlns:a="http://schemas.openxmlformats.org/drawingml/2006/main">
              <a:ext uri="{FF2B5EF4-FFF2-40B4-BE49-F238E27FC236}">
                <a16:creationId xmlns:a16="http://schemas.microsoft.com/office/drawing/2014/main" id="{BBD8C743-716E-43B1-A59D-7CBE13B5C098}"/>
              </a:ext>
            </a:extLst>
          </p:cNvPr>
          <p:cNvSpPr>
            <a:spLocks xmlns:a="http://schemas.openxmlformats.org/drawingml/2006/main" noGrp="1"/>
          </p:cNvSpPr>
          <p:nvPr/>
        </p:nvSpPr>
        <p:spPr>
          <a:xfrm xmlns:a="http://schemas.openxmlformats.org/drawingml/2006/main">
            <a:off x="2457450" y="3543300"/>
            <a:ext cx="342900" cy="28575"/>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A738BD42-8746-4DCB-9119-B5249D7A5655}"/>
              </a:ext>
            </a:extLst>
          </p:cNvPr>
          <p:cNvSpPr>
            <a:spLocks xmlns:a="http://schemas.openxmlformats.org/drawingml/2006/main" noGrp="1"/>
          </p:cNvSpPr>
          <p:nvPr/>
        </p:nvSpPr>
        <p:spPr>
          <a:xfrm xmlns:a="http://schemas.openxmlformats.org/drawingml/2006/main">
            <a:off x="2828925" y="3390900"/>
            <a:ext cx="266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5EE7DF"/>
                </a:solidFill>
                <a:latin typeface="Aptos"/>
                <a:ea typeface="Aptos"/>
                <a:cs typeface="Aptos"/>
              </a:defRPr>
            </a:pPr>
            <a:r>
              <a:rPr sz="1875" b="1">
                <a:solidFill>
                  <a:srgbClr val="5EE7DF"/>
                </a:solidFill>
                <a:latin typeface="Aptos"/>
                <a:ea typeface="Aptos"/>
                <a:cs typeface="Aptos"/>
              </a:rPr>
              <a:t>→</a:t>
            </a:r>
          </a:p>
        </p:txBody>
      </p:sp>
      <p:sp>
        <p:nvSpPr>
          <p:cNvPr id="35" name="">
            <a:extLst xmlns:a="http://schemas.openxmlformats.org/drawingml/2006/main">
              <a:ext uri="{FF2B5EF4-FFF2-40B4-BE49-F238E27FC236}">
                <a16:creationId xmlns:a16="http://schemas.microsoft.com/office/drawing/2014/main" id="{452138C4-D2BC-4EC1-8B1F-DCEFEE76B877}"/>
              </a:ext>
            </a:extLst>
          </p:cNvPr>
          <p:cNvSpPr>
            <a:spLocks xmlns:a="http://schemas.openxmlformats.org/drawingml/2006/main" noGrp="1"/>
          </p:cNvSpPr>
          <p:nvPr/>
        </p:nvSpPr>
        <p:spPr>
          <a:xfrm xmlns:a="http://schemas.openxmlformats.org/drawingml/2006/main">
            <a:off x="4686300" y="3543300"/>
            <a:ext cx="342900" cy="28575"/>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17E2227F-1FCA-42A7-95AD-627A586732C1}"/>
              </a:ext>
            </a:extLst>
          </p:cNvPr>
          <p:cNvSpPr>
            <a:spLocks xmlns:a="http://schemas.openxmlformats.org/drawingml/2006/main" noGrp="1"/>
          </p:cNvSpPr>
          <p:nvPr/>
        </p:nvSpPr>
        <p:spPr>
          <a:xfrm xmlns:a="http://schemas.openxmlformats.org/drawingml/2006/main">
            <a:off x="5057775" y="3390900"/>
            <a:ext cx="266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5EE7DF"/>
                </a:solidFill>
                <a:latin typeface="Aptos"/>
                <a:ea typeface="Aptos"/>
                <a:cs typeface="Aptos"/>
              </a:defRPr>
            </a:pPr>
            <a:r>
              <a:rPr sz="1875" b="1">
                <a:solidFill>
                  <a:srgbClr val="5EE7DF"/>
                </a:solidFill>
                <a:latin typeface="Aptos"/>
                <a:ea typeface="Aptos"/>
                <a:cs typeface="Aptos"/>
              </a:rPr>
              <a:t>→</a:t>
            </a:r>
          </a:p>
        </p:txBody>
      </p:sp>
      <p:sp>
        <p:nvSpPr>
          <p:cNvPr id="37" name="">
            <a:extLst xmlns:a="http://schemas.openxmlformats.org/drawingml/2006/main">
              <a:ext uri="{FF2B5EF4-FFF2-40B4-BE49-F238E27FC236}">
                <a16:creationId xmlns:a16="http://schemas.microsoft.com/office/drawing/2014/main" id="{1A7E1789-7887-4587-8446-D395A5C754EF}"/>
              </a:ext>
            </a:extLst>
          </p:cNvPr>
          <p:cNvSpPr>
            <a:spLocks xmlns:a="http://schemas.openxmlformats.org/drawingml/2006/main" noGrp="1"/>
          </p:cNvSpPr>
          <p:nvPr/>
        </p:nvSpPr>
        <p:spPr>
          <a:xfrm xmlns:a="http://schemas.openxmlformats.org/drawingml/2006/main">
            <a:off x="6915150" y="3543300"/>
            <a:ext cx="342900" cy="28575"/>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245D3F23-F327-4E68-8EBD-FC396F0C8555}"/>
              </a:ext>
            </a:extLst>
          </p:cNvPr>
          <p:cNvSpPr>
            <a:spLocks xmlns:a="http://schemas.openxmlformats.org/drawingml/2006/main" noGrp="1"/>
          </p:cNvSpPr>
          <p:nvPr/>
        </p:nvSpPr>
        <p:spPr>
          <a:xfrm xmlns:a="http://schemas.openxmlformats.org/drawingml/2006/main">
            <a:off x="7286625" y="3390900"/>
            <a:ext cx="266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5EE7DF"/>
                </a:solidFill>
                <a:latin typeface="Aptos"/>
                <a:ea typeface="Aptos"/>
                <a:cs typeface="Aptos"/>
              </a:defRPr>
            </a:pPr>
            <a:r>
              <a:rPr sz="1875" b="1">
                <a:solidFill>
                  <a:srgbClr val="5EE7DF"/>
                </a:solidFill>
                <a:latin typeface="Aptos"/>
                <a:ea typeface="Aptos"/>
                <a:cs typeface="Aptos"/>
              </a:rPr>
              <a:t>→</a:t>
            </a:r>
          </a:p>
        </p:txBody>
      </p:sp>
      <p:sp>
        <p:nvSpPr>
          <p:cNvPr id="39" name="">
            <a:extLst xmlns:a="http://schemas.openxmlformats.org/drawingml/2006/main">
              <a:ext uri="{FF2B5EF4-FFF2-40B4-BE49-F238E27FC236}">
                <a16:creationId xmlns:a16="http://schemas.microsoft.com/office/drawing/2014/main" id="{62AF381A-694F-45EE-AD69-705D35DFED64}"/>
              </a:ext>
            </a:extLst>
          </p:cNvPr>
          <p:cNvSpPr>
            <a:spLocks xmlns:a="http://schemas.openxmlformats.org/drawingml/2006/main" noGrp="1"/>
          </p:cNvSpPr>
          <p:nvPr/>
        </p:nvSpPr>
        <p:spPr>
          <a:xfrm xmlns:a="http://schemas.openxmlformats.org/drawingml/2006/main">
            <a:off x="9144000" y="3543300"/>
            <a:ext cx="342900" cy="28575"/>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C7F38C23-57B2-40EC-8989-498B6A671988}"/>
              </a:ext>
            </a:extLst>
          </p:cNvPr>
          <p:cNvSpPr>
            <a:spLocks xmlns:a="http://schemas.openxmlformats.org/drawingml/2006/main" noGrp="1"/>
          </p:cNvSpPr>
          <p:nvPr/>
        </p:nvSpPr>
        <p:spPr>
          <a:xfrm xmlns:a="http://schemas.openxmlformats.org/drawingml/2006/main">
            <a:off x="9515475" y="3390900"/>
            <a:ext cx="266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5EE7DF"/>
                </a:solidFill>
                <a:latin typeface="Aptos"/>
                <a:ea typeface="Aptos"/>
                <a:cs typeface="Aptos"/>
              </a:defRPr>
            </a:pPr>
            <a:r>
              <a:rPr sz="1875" b="1">
                <a:solidFill>
                  <a:srgbClr val="5EE7DF"/>
                </a:solidFill>
                <a:latin typeface="Aptos"/>
                <a:ea typeface="Aptos"/>
                <a:cs typeface="Aptos"/>
              </a:rPr>
              <a:t>→</a:t>
            </a:r>
          </a:p>
        </p:txBody>
      </p:sp>
      <p:sp>
        <p:nvSpPr>
          <p:cNvPr id="41" name="">
            <a:extLst xmlns:a="http://schemas.openxmlformats.org/drawingml/2006/main">
              <a:ext uri="{FF2B5EF4-FFF2-40B4-BE49-F238E27FC236}">
                <a16:creationId xmlns:a16="http://schemas.microsoft.com/office/drawing/2014/main" id="{6C7BE29A-235E-419A-AD4D-EE33CBFE9594}"/>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FA165A0C-387F-4450-AEC0-40736885F4BD}"/>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Translation uses Azure Translator API with fallback; summary is local mock AI; persistent storage target is Azure Cosmos DB.</a:t>
            </a:r>
          </a:p>
        </p:txBody>
      </p:sp>
    </p:spTree>
    <p:extLst>
      <p:ext uri="{BB962C8B-B14F-4D97-AF65-F5344CB8AC3E}">
        <p14:creationId xmlns:p14="http://schemas.microsoft.com/office/powerpoint/2010/main" val="77859852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ADE484A-9C85-48B3-A342-9680C7C674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B1FD478-FB47-4A65-A129-0BF8E8EF2320}"/>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9D594D1-1DF0-47AD-AFF0-2EE11DF57A61}"/>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72D3A9D-45A3-440C-8A59-89D88F988D33}"/>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FE97459-619F-4460-80B9-CDDB368C80E9}"/>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BC49C2C-1A63-4265-897F-1C98AE76DB2E}"/>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8B23796-D048-4EDF-A189-C6839DAC8AB2}"/>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7E0ADE12-B2DD-4D92-9B77-2BC693B1ECEA}"/>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5EDF39DC-6B57-4822-9FA7-5A22DFF56C8A}"/>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0389EEE-80C2-4E01-B0C4-F9605CC8B980}"/>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A13B06D4-E876-479F-815B-2052DA5F6751}"/>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7E3B216-A991-4FE3-A0FF-376E510B8778}"/>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5-label">
            <a:extLst xmlns:a="http://schemas.openxmlformats.org/drawingml/2006/main">
              <a:ext uri="{FF2B5EF4-FFF2-40B4-BE49-F238E27FC236}">
                <a16:creationId xmlns:a16="http://schemas.microsoft.com/office/drawing/2014/main" id="{DFA4DE0B-88B1-402B-8E2C-4C0BD62CA005}"/>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556E9FF2-950A-4A79-AF36-DCE50EA3012C}"/>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BA664523-9BFD-49FB-A03F-51E93E5E2E3E}"/>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05</a:t>
            </a:r>
          </a:p>
        </p:txBody>
      </p:sp>
      <p:sp>
        <p:nvSpPr>
          <p:cNvPr id="16" name="kicker-5-label-main">
            <a:extLst xmlns:a="http://schemas.openxmlformats.org/drawingml/2006/main">
              <a:ext uri="{FF2B5EF4-FFF2-40B4-BE49-F238E27FC236}">
                <a16:creationId xmlns:a16="http://schemas.microsoft.com/office/drawing/2014/main" id="{6D82E285-FBF2-4085-ABE7-42FD4E83C1E8}"/>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REAL TIME</a:t>
            </a:r>
          </a:p>
        </p:txBody>
      </p:sp>
      <p:sp>
        <p:nvSpPr>
          <p:cNvPr id="17" name="">
            <a:extLst xmlns:a="http://schemas.openxmlformats.org/drawingml/2006/main">
              <a:ext uri="{FF2B5EF4-FFF2-40B4-BE49-F238E27FC236}">
                <a16:creationId xmlns:a16="http://schemas.microsoft.com/office/drawing/2014/main" id="{5837604C-6FEB-4B2B-9DEA-F921327AEB12}"/>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The chat experience is designed for live multilingual collaboration.</a:t>
            </a:r>
          </a:p>
        </p:txBody>
      </p:sp>
      <p:sp>
        <p:nvSpPr>
          <p:cNvPr id="18" name="">
            <a:extLst xmlns:a="http://schemas.openxmlformats.org/drawingml/2006/main">
              <a:ext uri="{FF2B5EF4-FFF2-40B4-BE49-F238E27FC236}">
                <a16:creationId xmlns:a16="http://schemas.microsoft.com/office/drawing/2014/main" id="{F9F90CF5-19B9-4BF2-8D5C-B168A4032971}"/>
              </a:ext>
            </a:extLst>
          </p:cNvPr>
          <p:cNvSpPr>
            <a:spLocks xmlns:a="http://schemas.openxmlformats.org/drawingml/2006/main" noGrp="1"/>
          </p:cNvSpPr>
          <p:nvPr/>
        </p:nvSpPr>
        <p:spPr>
          <a:xfrm xmlns:a="http://schemas.openxmlformats.org/drawingml/2006/main">
            <a:off x="876300" y="2952750"/>
            <a:ext cx="2762250" cy="1619250"/>
          </a:xfrm>
          <a:prstGeom xmlns:a="http://schemas.openxmlformats.org/drawingml/2006/main" prst="roundRect">
            <a:avLst>
              <a:gd name="adj" fmla="val 4706"/>
            </a:avLst>
          </a:prstGeom>
          <a:solidFill xmlns:a="http://schemas.openxmlformats.org/drawingml/2006/main">
            <a:srgbClr val="0D2B4C"/>
          </a:solidFill>
          <a:ln xmlns:a="http://schemas.openxmlformats.org/drawingml/2006/main" w="9525">
            <a:solidFill>
              <a:srgbClr val="52E3A4"/>
            </a:solidFill>
            <a:prstDash val="solid"/>
          </a:ln>
        </p:spPr>
      </p:sp>
      <p:sp>
        <p:nvSpPr>
          <p:cNvPr id="19" name="">
            <a:extLst xmlns:a="http://schemas.openxmlformats.org/drawingml/2006/main">
              <a:ext uri="{FF2B5EF4-FFF2-40B4-BE49-F238E27FC236}">
                <a16:creationId xmlns:a16="http://schemas.microsoft.com/office/drawing/2014/main" id="{69F67BF0-3C82-4CE9-82BA-42E0D9EE2AC3}"/>
              </a:ext>
            </a:extLst>
          </p:cNvPr>
          <p:cNvSpPr>
            <a:spLocks xmlns:a="http://schemas.openxmlformats.org/drawingml/2006/main" noGrp="1"/>
          </p:cNvSpPr>
          <p:nvPr/>
        </p:nvSpPr>
        <p:spPr>
          <a:xfrm xmlns:a="http://schemas.openxmlformats.org/drawingml/2006/main">
            <a:off x="1181100" y="3295650"/>
            <a:ext cx="21526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4F9FF"/>
                </a:solidFill>
                <a:latin typeface="Aptos"/>
                <a:ea typeface="Aptos"/>
                <a:cs typeface="Aptos"/>
              </a:defRPr>
            </a:pPr>
            <a:r>
              <a:rPr sz="1800" b="1">
                <a:solidFill>
                  <a:srgbClr val="F4F9FF"/>
                </a:solidFill>
                <a:latin typeface="Aptos"/>
                <a:ea typeface="Aptos"/>
                <a:cs typeface="Aptos"/>
              </a:rPr>
              <a:t>Rayhan writes in Bangla</a:t>
            </a:r>
          </a:p>
        </p:txBody>
      </p:sp>
      <p:sp>
        <p:nvSpPr>
          <p:cNvPr id="20" name="">
            <a:extLst xmlns:a="http://schemas.openxmlformats.org/drawingml/2006/main">
              <a:ext uri="{FF2B5EF4-FFF2-40B4-BE49-F238E27FC236}">
                <a16:creationId xmlns:a16="http://schemas.microsoft.com/office/drawing/2014/main" id="{5D3C444E-AF5C-454E-AD28-7EF95E0753DF}"/>
              </a:ext>
            </a:extLst>
          </p:cNvPr>
          <p:cNvSpPr>
            <a:spLocks xmlns:a="http://schemas.openxmlformats.org/drawingml/2006/main" noGrp="1"/>
          </p:cNvSpPr>
          <p:nvPr/>
        </p:nvSpPr>
        <p:spPr>
          <a:xfrm xmlns:a="http://schemas.openxmlformats.org/drawingml/2006/main">
            <a:off x="1181100" y="3790950"/>
            <a:ext cx="2095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8BED6"/>
                </a:solidFill>
                <a:latin typeface="Aptos"/>
                <a:ea typeface="Aptos"/>
                <a:cs typeface="Aptos"/>
              </a:defRPr>
            </a:pPr>
            <a:r>
              <a:rPr sz="1125" b="0">
                <a:solidFill>
                  <a:srgbClr val="A8BED6"/>
                </a:solidFill>
                <a:latin typeface="Aptos"/>
                <a:ea typeface="Aptos"/>
                <a:cs typeface="Aptos"/>
              </a:rPr>
              <a:t>The conversation remains natural for the sender.</a:t>
            </a:r>
          </a:p>
        </p:txBody>
      </p:sp>
      <p:sp>
        <p:nvSpPr>
          <p:cNvPr id="21" name="">
            <a:extLst xmlns:a="http://schemas.openxmlformats.org/drawingml/2006/main">
              <a:ext uri="{FF2B5EF4-FFF2-40B4-BE49-F238E27FC236}">
                <a16:creationId xmlns:a16="http://schemas.microsoft.com/office/drawing/2014/main" id="{8D04527D-BEDD-4594-83F1-FE955AFD6357}"/>
              </a:ext>
            </a:extLst>
          </p:cNvPr>
          <p:cNvSpPr>
            <a:spLocks xmlns:a="http://schemas.openxmlformats.org/drawingml/2006/main" noGrp="1"/>
          </p:cNvSpPr>
          <p:nvPr/>
        </p:nvSpPr>
        <p:spPr>
          <a:xfrm xmlns:a="http://schemas.openxmlformats.org/drawingml/2006/main">
            <a:off x="4038600" y="3448050"/>
            <a:ext cx="5143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5EE7DF"/>
                </a:solidFill>
                <a:latin typeface="Aptos"/>
                <a:ea typeface="Aptos"/>
                <a:cs typeface="Aptos"/>
              </a:defRPr>
            </a:pPr>
            <a:r>
              <a:rPr sz="3150" b="1">
                <a:solidFill>
                  <a:srgbClr val="5EE7DF"/>
                </a:solidFill>
                <a:latin typeface="Aptos"/>
                <a:ea typeface="Aptos"/>
                <a:cs typeface="Aptos"/>
              </a:rPr>
              <a:t>→</a:t>
            </a:r>
          </a:p>
        </p:txBody>
      </p:sp>
      <p:sp>
        <p:nvSpPr>
          <p:cNvPr id="22" name="">
            <a:extLst xmlns:a="http://schemas.openxmlformats.org/drawingml/2006/main">
              <a:ext uri="{FF2B5EF4-FFF2-40B4-BE49-F238E27FC236}">
                <a16:creationId xmlns:a16="http://schemas.microsoft.com/office/drawing/2014/main" id="{3B4EE012-8183-48E7-910B-86A097A2BF4E}"/>
              </a:ext>
            </a:extLst>
          </p:cNvPr>
          <p:cNvSpPr>
            <a:spLocks xmlns:a="http://schemas.openxmlformats.org/drawingml/2006/main" noGrp="1"/>
          </p:cNvSpPr>
          <p:nvPr/>
        </p:nvSpPr>
        <p:spPr>
          <a:xfrm xmlns:a="http://schemas.openxmlformats.org/drawingml/2006/main">
            <a:off x="4800600" y="2952750"/>
            <a:ext cx="2476500" cy="1619250"/>
          </a:xfrm>
          <a:prstGeom xmlns:a="http://schemas.openxmlformats.org/drawingml/2006/main" prst="roundRect">
            <a:avLst>
              <a:gd name="adj" fmla="val 4706"/>
            </a:avLst>
          </a:prstGeom>
          <a:solidFill xmlns:a="http://schemas.openxmlformats.org/drawingml/2006/main">
            <a:srgbClr val="0D2B4C"/>
          </a:solidFill>
          <a:ln xmlns:a="http://schemas.openxmlformats.org/drawingml/2006/main" w="9525">
            <a:solidFill>
              <a:srgbClr val="5EE7DF"/>
            </a:solidFill>
            <a:prstDash val="solid"/>
          </a:ln>
        </p:spPr>
      </p:sp>
      <p:sp>
        <p:nvSpPr>
          <p:cNvPr id="23" name="">
            <a:extLst xmlns:a="http://schemas.openxmlformats.org/drawingml/2006/main">
              <a:ext uri="{FF2B5EF4-FFF2-40B4-BE49-F238E27FC236}">
                <a16:creationId xmlns:a16="http://schemas.microsoft.com/office/drawing/2014/main" id="{C6CB9939-26AD-44F9-AB58-9C016E29A057}"/>
              </a:ext>
            </a:extLst>
          </p:cNvPr>
          <p:cNvSpPr>
            <a:spLocks xmlns:a="http://schemas.openxmlformats.org/drawingml/2006/main" noGrp="1"/>
          </p:cNvSpPr>
          <p:nvPr/>
        </p:nvSpPr>
        <p:spPr>
          <a:xfrm xmlns:a="http://schemas.openxmlformats.org/drawingml/2006/main">
            <a:off x="5105400" y="3295650"/>
            <a:ext cx="1962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4F9FF"/>
                </a:solidFill>
                <a:latin typeface="Aptos"/>
                <a:ea typeface="Aptos"/>
                <a:cs typeface="Aptos"/>
              </a:defRPr>
            </a:pPr>
            <a:r>
              <a:rPr sz="1800" b="1">
                <a:solidFill>
                  <a:srgbClr val="F4F9FF"/>
                </a:solidFill>
                <a:latin typeface="Aptos"/>
                <a:ea typeface="Aptos"/>
                <a:cs typeface="Aptos"/>
              </a:rPr>
              <a:t>Translation status</a:t>
            </a:r>
          </a:p>
        </p:txBody>
      </p:sp>
      <p:sp>
        <p:nvSpPr>
          <p:cNvPr id="24" name="">
            <a:extLst xmlns:a="http://schemas.openxmlformats.org/drawingml/2006/main">
              <a:ext uri="{FF2B5EF4-FFF2-40B4-BE49-F238E27FC236}">
                <a16:creationId xmlns:a16="http://schemas.microsoft.com/office/drawing/2014/main" id="{03F950F9-7927-4D92-BB9F-73A488C49087}"/>
              </a:ext>
            </a:extLst>
          </p:cNvPr>
          <p:cNvSpPr>
            <a:spLocks xmlns:a="http://schemas.openxmlformats.org/drawingml/2006/main" noGrp="1"/>
          </p:cNvSpPr>
          <p:nvPr/>
        </p:nvSpPr>
        <p:spPr>
          <a:xfrm xmlns:a="http://schemas.openxmlformats.org/drawingml/2006/main">
            <a:off x="5105400" y="3790950"/>
            <a:ext cx="19050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8BED6"/>
                </a:solidFill>
                <a:latin typeface="Aptos"/>
                <a:ea typeface="Aptos"/>
                <a:cs typeface="Aptos"/>
              </a:defRPr>
            </a:pPr>
            <a:r>
              <a:rPr sz="1125" b="0">
                <a:solidFill>
                  <a:srgbClr val="A8BED6"/>
                </a:solidFill>
                <a:latin typeface="Aptos"/>
                <a:ea typeface="Aptos"/>
                <a:cs typeface="Aptos"/>
              </a:rPr>
              <a:t>Typing dots and message animation signal live processing.</a:t>
            </a:r>
          </a:p>
        </p:txBody>
      </p:sp>
      <p:sp>
        <p:nvSpPr>
          <p:cNvPr id="25" name="">
            <a:extLst xmlns:a="http://schemas.openxmlformats.org/drawingml/2006/main">
              <a:ext uri="{FF2B5EF4-FFF2-40B4-BE49-F238E27FC236}">
                <a16:creationId xmlns:a16="http://schemas.microsoft.com/office/drawing/2014/main" id="{97DC5056-BC27-42BB-B066-FB7D4DDD0B48}"/>
              </a:ext>
            </a:extLst>
          </p:cNvPr>
          <p:cNvSpPr>
            <a:spLocks xmlns:a="http://schemas.openxmlformats.org/drawingml/2006/main" noGrp="1"/>
          </p:cNvSpPr>
          <p:nvPr/>
        </p:nvSpPr>
        <p:spPr>
          <a:xfrm xmlns:a="http://schemas.openxmlformats.org/drawingml/2006/main">
            <a:off x="7620000" y="3448050"/>
            <a:ext cx="5143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5EE7DF"/>
                </a:solidFill>
                <a:latin typeface="Aptos"/>
                <a:ea typeface="Aptos"/>
                <a:cs typeface="Aptos"/>
              </a:defRPr>
            </a:pPr>
            <a:r>
              <a:rPr sz="3150" b="1">
                <a:solidFill>
                  <a:srgbClr val="5EE7DF"/>
                </a:solidFill>
                <a:latin typeface="Aptos"/>
                <a:ea typeface="Aptos"/>
                <a:cs typeface="Aptos"/>
              </a:rPr>
              <a:t>→</a:t>
            </a:r>
          </a:p>
        </p:txBody>
      </p:sp>
      <p:sp>
        <p:nvSpPr>
          <p:cNvPr id="26" name="">
            <a:extLst xmlns:a="http://schemas.openxmlformats.org/drawingml/2006/main">
              <a:ext uri="{FF2B5EF4-FFF2-40B4-BE49-F238E27FC236}">
                <a16:creationId xmlns:a16="http://schemas.microsoft.com/office/drawing/2014/main" id="{3141FEEF-E2DD-4479-BAE7-06A215B6AAA9}"/>
              </a:ext>
            </a:extLst>
          </p:cNvPr>
          <p:cNvSpPr>
            <a:spLocks xmlns:a="http://schemas.openxmlformats.org/drawingml/2006/main" noGrp="1"/>
          </p:cNvSpPr>
          <p:nvPr/>
        </p:nvSpPr>
        <p:spPr>
          <a:xfrm xmlns:a="http://schemas.openxmlformats.org/drawingml/2006/main">
            <a:off x="8382000" y="2952750"/>
            <a:ext cx="2762250" cy="1619250"/>
          </a:xfrm>
          <a:prstGeom xmlns:a="http://schemas.openxmlformats.org/drawingml/2006/main" prst="roundRect">
            <a:avLst>
              <a:gd name="adj" fmla="val 4706"/>
            </a:avLst>
          </a:prstGeom>
          <a:solidFill xmlns:a="http://schemas.openxmlformats.org/drawingml/2006/main">
            <a:srgbClr val="0D2B4C"/>
          </a:solidFill>
          <a:ln xmlns:a="http://schemas.openxmlformats.org/drawingml/2006/main" w="9525">
            <a:solidFill>
              <a:srgbClr val="35A7FF"/>
            </a:solidFill>
            <a:prstDash val="solid"/>
          </a:ln>
        </p:spPr>
      </p:sp>
      <p:sp>
        <p:nvSpPr>
          <p:cNvPr id="27" name="">
            <a:extLst xmlns:a="http://schemas.openxmlformats.org/drawingml/2006/main">
              <a:ext uri="{FF2B5EF4-FFF2-40B4-BE49-F238E27FC236}">
                <a16:creationId xmlns:a16="http://schemas.microsoft.com/office/drawing/2014/main" id="{036A432D-9ECC-43EB-9FBC-2220F33C5D31}"/>
              </a:ext>
            </a:extLst>
          </p:cNvPr>
          <p:cNvSpPr>
            <a:spLocks xmlns:a="http://schemas.openxmlformats.org/drawingml/2006/main" noGrp="1"/>
          </p:cNvSpPr>
          <p:nvPr/>
        </p:nvSpPr>
        <p:spPr>
          <a:xfrm xmlns:a="http://schemas.openxmlformats.org/drawingml/2006/main">
            <a:off x="8686800" y="3295650"/>
            <a:ext cx="21526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4F9FF"/>
                </a:solidFill>
                <a:latin typeface="Aptos"/>
                <a:ea typeface="Aptos"/>
                <a:cs typeface="Aptos"/>
              </a:defRPr>
            </a:pPr>
            <a:r>
              <a:rPr sz="1800" b="1">
                <a:solidFill>
                  <a:srgbClr val="F4F9FF"/>
                </a:solidFill>
                <a:latin typeface="Aptos"/>
                <a:ea typeface="Aptos"/>
                <a:cs typeface="Aptos"/>
              </a:rPr>
              <a:t>Jisu reads Korean</a:t>
            </a:r>
          </a:p>
        </p:txBody>
      </p:sp>
      <p:sp>
        <p:nvSpPr>
          <p:cNvPr id="28" name="">
            <a:extLst xmlns:a="http://schemas.openxmlformats.org/drawingml/2006/main">
              <a:ext uri="{FF2B5EF4-FFF2-40B4-BE49-F238E27FC236}">
                <a16:creationId xmlns:a16="http://schemas.microsoft.com/office/drawing/2014/main" id="{F292CA63-2BB5-44D0-85D7-E67FF8573738}"/>
              </a:ext>
            </a:extLst>
          </p:cNvPr>
          <p:cNvSpPr>
            <a:spLocks xmlns:a="http://schemas.openxmlformats.org/drawingml/2006/main" noGrp="1"/>
          </p:cNvSpPr>
          <p:nvPr/>
        </p:nvSpPr>
        <p:spPr>
          <a:xfrm xmlns:a="http://schemas.openxmlformats.org/drawingml/2006/main">
            <a:off x="8686800" y="3790950"/>
            <a:ext cx="2095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8BED6"/>
                </a:solidFill>
                <a:latin typeface="Aptos"/>
                <a:ea typeface="Aptos"/>
                <a:cs typeface="Aptos"/>
              </a:defRPr>
            </a:pPr>
            <a:r>
              <a:rPr sz="1125" b="0">
                <a:solidFill>
                  <a:srgbClr val="A8BED6"/>
                </a:solidFill>
                <a:latin typeface="Aptos"/>
                <a:ea typeface="Aptos"/>
                <a:cs typeface="Aptos"/>
              </a:rPr>
              <a:t>The receiver sees their selected language immediately.</a:t>
            </a:r>
          </a:p>
        </p:txBody>
      </p:sp>
      <p:sp>
        <p:nvSpPr>
          <p:cNvPr id="29" name="">
            <a:extLst xmlns:a="http://schemas.openxmlformats.org/drawingml/2006/main">
              <a:ext uri="{FF2B5EF4-FFF2-40B4-BE49-F238E27FC236}">
                <a16:creationId xmlns:a16="http://schemas.microsoft.com/office/drawing/2014/main" id="{C774CEB3-64AC-4088-BDEA-58D10E68350A}"/>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E0412087-49CB-452B-9991-E41709E2E6C1}"/>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Translation uses Azure Translator API with fallback; summary is local mock AI; persistent storage target is Azure Cosmos DB.</a:t>
            </a:r>
          </a:p>
        </p:txBody>
      </p:sp>
    </p:spTree>
    <p:extLst>
      <p:ext uri="{BB962C8B-B14F-4D97-AF65-F5344CB8AC3E}">
        <p14:creationId xmlns:p14="http://schemas.microsoft.com/office/powerpoint/2010/main" val="199510685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73DED1A-5C1A-4DCE-90C8-E5A2AC28C5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1848319-6F8E-43BF-BB64-ED9088F4B762}"/>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0D7F18F-7CF9-47A6-B549-19240F36E78B}"/>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103E806-9F7F-4501-BF12-E6F5CC36DE02}"/>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9EB9467-15E3-49BC-8DBF-5EAB693BA1D6}"/>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3ABAECFB-35BB-4FD5-98AA-6FB4C23FC040}"/>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693D6ABE-A517-4975-B3A4-A3662977EBB9}"/>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2E8843D-24B7-4AB7-BBEC-5A4519B6CCEA}"/>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00EFE8C-9F66-47EE-AC8B-CDE7F9ADC14A}"/>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3922E701-528B-4054-B7C0-92143C16279E}"/>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85845BB5-340C-492E-86BC-E673143FF2FC}"/>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08FD8254-A9A7-4F21-961A-8D7074A3C44F}"/>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6-label">
            <a:extLst xmlns:a="http://schemas.openxmlformats.org/drawingml/2006/main">
              <a:ext uri="{FF2B5EF4-FFF2-40B4-BE49-F238E27FC236}">
                <a16:creationId xmlns:a16="http://schemas.microsoft.com/office/drawing/2014/main" id="{9A100E14-5276-4195-A293-958AAAB5158B}"/>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1369308C-6D90-4536-A39C-F3523E6AA9C1}"/>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1FA76A14-0081-42CF-96B5-12617A14C931}"/>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06</a:t>
            </a:r>
          </a:p>
        </p:txBody>
      </p:sp>
      <p:sp>
        <p:nvSpPr>
          <p:cNvPr id="16" name="kicker-6-label-main">
            <a:extLst xmlns:a="http://schemas.openxmlformats.org/drawingml/2006/main">
              <a:ext uri="{FF2B5EF4-FFF2-40B4-BE49-F238E27FC236}">
                <a16:creationId xmlns:a16="http://schemas.microsoft.com/office/drawing/2014/main" id="{A1BDF9B4-7346-46D6-AF10-CB3FE3E808AA}"/>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TRANSLATION</a:t>
            </a:r>
          </a:p>
        </p:txBody>
      </p:sp>
      <p:sp>
        <p:nvSpPr>
          <p:cNvPr id="17" name="">
            <a:extLst xmlns:a="http://schemas.openxmlformats.org/drawingml/2006/main">
              <a:ext uri="{FF2B5EF4-FFF2-40B4-BE49-F238E27FC236}">
                <a16:creationId xmlns:a16="http://schemas.microsoft.com/office/drawing/2014/main" id="{D8E41746-1876-4DB2-9FA2-F17B87332AB8}"/>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Each receiver gets the same message rendered in their own selected language.</a:t>
            </a:r>
          </a:p>
        </p:txBody>
      </p:sp>
      <p:sp>
        <p:nvSpPr>
          <p:cNvPr id="18" name="">
            <a:extLst xmlns:a="http://schemas.openxmlformats.org/drawingml/2006/main">
              <a:ext uri="{FF2B5EF4-FFF2-40B4-BE49-F238E27FC236}">
                <a16:creationId xmlns:a16="http://schemas.microsoft.com/office/drawing/2014/main" id="{5E05E6AA-A8C9-41C4-A5F6-E08CB78E9087}"/>
              </a:ext>
            </a:extLst>
          </p:cNvPr>
          <p:cNvSpPr>
            <a:spLocks xmlns:a="http://schemas.openxmlformats.org/drawingml/2006/main" noGrp="1"/>
          </p:cNvSpPr>
          <p:nvPr/>
        </p:nvSpPr>
        <p:spPr>
          <a:xfrm xmlns:a="http://schemas.openxmlformats.org/drawingml/2006/main">
            <a:off x="933450" y="2914650"/>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89A6"/>
                </a:solidFill>
                <a:latin typeface="Aptos"/>
                <a:ea typeface="Aptos"/>
                <a:cs typeface="Aptos"/>
              </a:defRPr>
            </a:pPr>
            <a:r>
              <a:rPr sz="975" b="1">
                <a:solidFill>
                  <a:srgbClr val="6F89A6"/>
                </a:solidFill>
                <a:latin typeface="Aptos"/>
                <a:ea typeface="Aptos"/>
                <a:cs typeface="Aptos"/>
              </a:rPr>
              <a:t>Sender</a:t>
            </a:r>
          </a:p>
        </p:txBody>
      </p:sp>
      <p:sp>
        <p:nvSpPr>
          <p:cNvPr id="19" name="">
            <a:extLst xmlns:a="http://schemas.openxmlformats.org/drawingml/2006/main">
              <a:ext uri="{FF2B5EF4-FFF2-40B4-BE49-F238E27FC236}">
                <a16:creationId xmlns:a16="http://schemas.microsoft.com/office/drawing/2014/main" id="{40682BEE-C3B4-4F8E-9B8F-BA9301285AC5}"/>
              </a:ext>
            </a:extLst>
          </p:cNvPr>
          <p:cNvSpPr>
            <a:spLocks xmlns:a="http://schemas.openxmlformats.org/drawingml/2006/main" noGrp="1"/>
          </p:cNvSpPr>
          <p:nvPr/>
        </p:nvSpPr>
        <p:spPr>
          <a:xfrm xmlns:a="http://schemas.openxmlformats.org/drawingml/2006/main">
            <a:off x="2667000" y="2914650"/>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89A6"/>
                </a:solidFill>
                <a:latin typeface="Aptos"/>
                <a:ea typeface="Aptos"/>
                <a:cs typeface="Aptos"/>
              </a:defRPr>
            </a:pPr>
            <a:r>
              <a:rPr sz="975" b="1">
                <a:solidFill>
                  <a:srgbClr val="6F89A6"/>
                </a:solidFill>
                <a:latin typeface="Aptos"/>
                <a:ea typeface="Aptos"/>
                <a:cs typeface="Aptos"/>
              </a:rPr>
              <a:t>Original</a:t>
            </a:r>
          </a:p>
        </p:txBody>
      </p:sp>
      <p:sp>
        <p:nvSpPr>
          <p:cNvPr id="20" name="">
            <a:extLst xmlns:a="http://schemas.openxmlformats.org/drawingml/2006/main">
              <a:ext uri="{FF2B5EF4-FFF2-40B4-BE49-F238E27FC236}">
                <a16:creationId xmlns:a16="http://schemas.microsoft.com/office/drawing/2014/main" id="{BE2A1D5C-D938-4A66-AFCF-03355FF69C63}"/>
              </a:ext>
            </a:extLst>
          </p:cNvPr>
          <p:cNvSpPr>
            <a:spLocks xmlns:a="http://schemas.openxmlformats.org/drawingml/2006/main" noGrp="1"/>
          </p:cNvSpPr>
          <p:nvPr/>
        </p:nvSpPr>
        <p:spPr>
          <a:xfrm xmlns:a="http://schemas.openxmlformats.org/drawingml/2006/main">
            <a:off x="4781550" y="2914650"/>
            <a:ext cx="2476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89A6"/>
                </a:solidFill>
                <a:latin typeface="Aptos"/>
                <a:ea typeface="Aptos"/>
                <a:cs typeface="Aptos"/>
              </a:defRPr>
            </a:pPr>
            <a:r>
              <a:rPr sz="975" b="1">
                <a:solidFill>
                  <a:srgbClr val="6F89A6"/>
                </a:solidFill>
                <a:latin typeface="Aptos"/>
                <a:ea typeface="Aptos"/>
                <a:cs typeface="Aptos"/>
              </a:rPr>
              <a:t>Receiver views</a:t>
            </a:r>
          </a:p>
        </p:txBody>
      </p:sp>
      <p:sp>
        <p:nvSpPr>
          <p:cNvPr id="21" name="">
            <a:extLst xmlns:a="http://schemas.openxmlformats.org/drawingml/2006/main">
              <a:ext uri="{FF2B5EF4-FFF2-40B4-BE49-F238E27FC236}">
                <a16:creationId xmlns:a16="http://schemas.microsoft.com/office/drawing/2014/main" id="{77A565DD-2A1E-4C58-92E7-FA872E03BA7F}"/>
              </a:ext>
            </a:extLst>
          </p:cNvPr>
          <p:cNvSpPr>
            <a:spLocks xmlns:a="http://schemas.openxmlformats.org/drawingml/2006/main" noGrp="1"/>
          </p:cNvSpPr>
          <p:nvPr/>
        </p:nvSpPr>
        <p:spPr>
          <a:xfrm xmlns:a="http://schemas.openxmlformats.org/drawingml/2006/main">
            <a:off x="800100" y="3257550"/>
            <a:ext cx="9639300" cy="552450"/>
          </a:xfrm>
          <a:prstGeom xmlns:a="http://schemas.openxmlformats.org/drawingml/2006/main" prst="roundRect">
            <a:avLst>
              <a:gd name="adj" fmla="val 13793"/>
            </a:avLst>
          </a:prstGeom>
          <a:solidFill xmlns:a="http://schemas.openxmlformats.org/drawingml/2006/main">
            <a:srgbClr val="0D2B4C"/>
          </a:solidFill>
          <a:ln xmlns:a="http://schemas.openxmlformats.org/drawingml/2006/main" w="9525">
            <a:solidFill>
              <a:srgbClr val="224F79"/>
            </a:solidFill>
            <a:prstDash val="solid"/>
          </a:ln>
        </p:spPr>
      </p:sp>
      <p:sp>
        <p:nvSpPr>
          <p:cNvPr id="22" name="">
            <a:extLst xmlns:a="http://schemas.openxmlformats.org/drawingml/2006/main">
              <a:ext uri="{FF2B5EF4-FFF2-40B4-BE49-F238E27FC236}">
                <a16:creationId xmlns:a16="http://schemas.microsoft.com/office/drawing/2014/main" id="{8647DCFF-9942-4270-9F98-866EFCB95D0B}"/>
              </a:ext>
            </a:extLst>
          </p:cNvPr>
          <p:cNvSpPr>
            <a:spLocks xmlns:a="http://schemas.openxmlformats.org/drawingml/2006/main" noGrp="1"/>
          </p:cNvSpPr>
          <p:nvPr/>
        </p:nvSpPr>
        <p:spPr>
          <a:xfrm xmlns:a="http://schemas.openxmlformats.org/drawingml/2006/main">
            <a:off x="1066800" y="3429000"/>
            <a:ext cx="1238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Rayhan</a:t>
            </a:r>
          </a:p>
        </p:txBody>
      </p:sp>
      <p:sp>
        <p:nvSpPr>
          <p:cNvPr id="23" name="">
            <a:extLst xmlns:a="http://schemas.openxmlformats.org/drawingml/2006/main">
              <a:ext uri="{FF2B5EF4-FFF2-40B4-BE49-F238E27FC236}">
                <a16:creationId xmlns:a16="http://schemas.microsoft.com/office/drawing/2014/main" id="{5100B5C0-59D2-4030-B545-5CB4924727AD}"/>
              </a:ext>
            </a:extLst>
          </p:cNvPr>
          <p:cNvSpPr>
            <a:spLocks xmlns:a="http://schemas.openxmlformats.org/drawingml/2006/main" noGrp="1"/>
          </p:cNvSpPr>
          <p:nvPr/>
        </p:nvSpPr>
        <p:spPr>
          <a:xfrm xmlns:a="http://schemas.openxmlformats.org/drawingml/2006/main">
            <a:off x="2686050" y="3429000"/>
            <a:ext cx="1238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EE7DF"/>
                </a:solidFill>
                <a:latin typeface="Aptos"/>
                <a:ea typeface="Aptos"/>
                <a:cs typeface="Aptos"/>
              </a:defRPr>
            </a:pPr>
            <a:r>
              <a:rPr sz="1275" b="1">
                <a:solidFill>
                  <a:srgbClr val="5EE7DF"/>
                </a:solidFill>
                <a:latin typeface="Aptos"/>
                <a:ea typeface="Aptos"/>
                <a:cs typeface="Aptos"/>
              </a:rPr>
              <a:t>Bangla</a:t>
            </a:r>
          </a:p>
        </p:txBody>
      </p:sp>
      <p:sp>
        <p:nvSpPr>
          <p:cNvPr id="24" name="">
            <a:extLst xmlns:a="http://schemas.openxmlformats.org/drawingml/2006/main">
              <a:ext uri="{FF2B5EF4-FFF2-40B4-BE49-F238E27FC236}">
                <a16:creationId xmlns:a16="http://schemas.microsoft.com/office/drawing/2014/main" id="{9A545D56-473F-4E97-A452-1DC5A3DB667F}"/>
              </a:ext>
            </a:extLst>
          </p:cNvPr>
          <p:cNvSpPr>
            <a:spLocks xmlns:a="http://schemas.openxmlformats.org/drawingml/2006/main" noGrp="1"/>
          </p:cNvSpPr>
          <p:nvPr/>
        </p:nvSpPr>
        <p:spPr>
          <a:xfrm xmlns:a="http://schemas.openxmlformats.org/drawingml/2006/main">
            <a:off x="4781550" y="33718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25" name="">
            <a:extLst xmlns:a="http://schemas.openxmlformats.org/drawingml/2006/main">
              <a:ext uri="{FF2B5EF4-FFF2-40B4-BE49-F238E27FC236}">
                <a16:creationId xmlns:a16="http://schemas.microsoft.com/office/drawing/2014/main" id="{675D6227-8E27-4BB7-A181-D34452B59715}"/>
              </a:ext>
            </a:extLst>
          </p:cNvPr>
          <p:cNvSpPr>
            <a:spLocks xmlns:a="http://schemas.openxmlformats.org/drawingml/2006/main" noGrp="1"/>
          </p:cNvSpPr>
          <p:nvPr/>
        </p:nvSpPr>
        <p:spPr>
          <a:xfrm xmlns:a="http://schemas.openxmlformats.org/drawingml/2006/main">
            <a:off x="4933950" y="34480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Korean</a:t>
            </a:r>
          </a:p>
        </p:txBody>
      </p:sp>
      <p:sp>
        <p:nvSpPr>
          <p:cNvPr id="26" name="">
            <a:extLst xmlns:a="http://schemas.openxmlformats.org/drawingml/2006/main">
              <a:ext uri="{FF2B5EF4-FFF2-40B4-BE49-F238E27FC236}">
                <a16:creationId xmlns:a16="http://schemas.microsoft.com/office/drawing/2014/main" id="{08677D5C-896F-4F8E-9A22-1B711AE4D205}"/>
              </a:ext>
            </a:extLst>
          </p:cNvPr>
          <p:cNvSpPr>
            <a:spLocks xmlns:a="http://schemas.openxmlformats.org/drawingml/2006/main" noGrp="1"/>
          </p:cNvSpPr>
          <p:nvPr/>
        </p:nvSpPr>
        <p:spPr>
          <a:xfrm xmlns:a="http://schemas.openxmlformats.org/drawingml/2006/main">
            <a:off x="6191250" y="33718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27" name="">
            <a:extLst xmlns:a="http://schemas.openxmlformats.org/drawingml/2006/main">
              <a:ext uri="{FF2B5EF4-FFF2-40B4-BE49-F238E27FC236}">
                <a16:creationId xmlns:a16="http://schemas.microsoft.com/office/drawing/2014/main" id="{8114924E-0507-4E07-970E-9355841A874E}"/>
              </a:ext>
            </a:extLst>
          </p:cNvPr>
          <p:cNvSpPr>
            <a:spLocks xmlns:a="http://schemas.openxmlformats.org/drawingml/2006/main" noGrp="1"/>
          </p:cNvSpPr>
          <p:nvPr/>
        </p:nvSpPr>
        <p:spPr>
          <a:xfrm xmlns:a="http://schemas.openxmlformats.org/drawingml/2006/main">
            <a:off x="6343650" y="34480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English</a:t>
            </a:r>
          </a:p>
        </p:txBody>
      </p:sp>
      <p:sp>
        <p:nvSpPr>
          <p:cNvPr id="28" name="">
            <a:extLst xmlns:a="http://schemas.openxmlformats.org/drawingml/2006/main">
              <a:ext uri="{FF2B5EF4-FFF2-40B4-BE49-F238E27FC236}">
                <a16:creationId xmlns:a16="http://schemas.microsoft.com/office/drawing/2014/main" id="{69BC8295-B4B2-4E53-B6D1-3D764A0024A2}"/>
              </a:ext>
            </a:extLst>
          </p:cNvPr>
          <p:cNvSpPr>
            <a:spLocks xmlns:a="http://schemas.openxmlformats.org/drawingml/2006/main" noGrp="1"/>
          </p:cNvSpPr>
          <p:nvPr/>
        </p:nvSpPr>
        <p:spPr>
          <a:xfrm xmlns:a="http://schemas.openxmlformats.org/drawingml/2006/main">
            <a:off x="7600950" y="33718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29" name="">
            <a:extLst xmlns:a="http://schemas.openxmlformats.org/drawingml/2006/main">
              <a:ext uri="{FF2B5EF4-FFF2-40B4-BE49-F238E27FC236}">
                <a16:creationId xmlns:a16="http://schemas.microsoft.com/office/drawing/2014/main" id="{FA7EB15A-3AB3-4F39-884E-0E64D1C2FDA9}"/>
              </a:ext>
            </a:extLst>
          </p:cNvPr>
          <p:cNvSpPr>
            <a:spLocks xmlns:a="http://schemas.openxmlformats.org/drawingml/2006/main" noGrp="1"/>
          </p:cNvSpPr>
          <p:nvPr/>
        </p:nvSpPr>
        <p:spPr>
          <a:xfrm xmlns:a="http://schemas.openxmlformats.org/drawingml/2006/main">
            <a:off x="7753350" y="34480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Arabic</a:t>
            </a:r>
          </a:p>
        </p:txBody>
      </p:sp>
      <p:sp>
        <p:nvSpPr>
          <p:cNvPr id="30" name="">
            <a:extLst xmlns:a="http://schemas.openxmlformats.org/drawingml/2006/main">
              <a:ext uri="{FF2B5EF4-FFF2-40B4-BE49-F238E27FC236}">
                <a16:creationId xmlns:a16="http://schemas.microsoft.com/office/drawing/2014/main" id="{C5A5F186-D697-4C89-8FB4-0BAFCF05BCB6}"/>
              </a:ext>
            </a:extLst>
          </p:cNvPr>
          <p:cNvSpPr>
            <a:spLocks xmlns:a="http://schemas.openxmlformats.org/drawingml/2006/main" noGrp="1"/>
          </p:cNvSpPr>
          <p:nvPr/>
        </p:nvSpPr>
        <p:spPr>
          <a:xfrm xmlns:a="http://schemas.openxmlformats.org/drawingml/2006/main">
            <a:off x="800100" y="3981450"/>
            <a:ext cx="9639300" cy="552450"/>
          </a:xfrm>
          <a:prstGeom xmlns:a="http://schemas.openxmlformats.org/drawingml/2006/main" prst="roundRect">
            <a:avLst>
              <a:gd name="adj" fmla="val 13793"/>
            </a:avLst>
          </a:prstGeom>
          <a:solidFill xmlns:a="http://schemas.openxmlformats.org/drawingml/2006/main">
            <a:srgbClr val="0A2340"/>
          </a:solidFill>
          <a:ln xmlns:a="http://schemas.openxmlformats.org/drawingml/2006/main" w="9525">
            <a:solidFill>
              <a:srgbClr val="224F79"/>
            </a:solidFill>
            <a:prstDash val="solid"/>
          </a:ln>
        </p:spPr>
      </p:sp>
      <p:sp>
        <p:nvSpPr>
          <p:cNvPr id="31" name="">
            <a:extLst xmlns:a="http://schemas.openxmlformats.org/drawingml/2006/main">
              <a:ext uri="{FF2B5EF4-FFF2-40B4-BE49-F238E27FC236}">
                <a16:creationId xmlns:a16="http://schemas.microsoft.com/office/drawing/2014/main" id="{DCF5E23B-51AC-4800-9D01-D9F821A86ACC}"/>
              </a:ext>
            </a:extLst>
          </p:cNvPr>
          <p:cNvSpPr>
            <a:spLocks xmlns:a="http://schemas.openxmlformats.org/drawingml/2006/main" noGrp="1"/>
          </p:cNvSpPr>
          <p:nvPr/>
        </p:nvSpPr>
        <p:spPr>
          <a:xfrm xmlns:a="http://schemas.openxmlformats.org/drawingml/2006/main">
            <a:off x="1066800" y="4152900"/>
            <a:ext cx="1238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Jisu</a:t>
            </a:r>
          </a:p>
        </p:txBody>
      </p:sp>
      <p:sp>
        <p:nvSpPr>
          <p:cNvPr id="32" name="">
            <a:extLst xmlns:a="http://schemas.openxmlformats.org/drawingml/2006/main">
              <a:ext uri="{FF2B5EF4-FFF2-40B4-BE49-F238E27FC236}">
                <a16:creationId xmlns:a16="http://schemas.microsoft.com/office/drawing/2014/main" id="{9E6F81B9-A20B-44B0-A576-1784E1CF3934}"/>
              </a:ext>
            </a:extLst>
          </p:cNvPr>
          <p:cNvSpPr>
            <a:spLocks xmlns:a="http://schemas.openxmlformats.org/drawingml/2006/main" noGrp="1"/>
          </p:cNvSpPr>
          <p:nvPr/>
        </p:nvSpPr>
        <p:spPr>
          <a:xfrm xmlns:a="http://schemas.openxmlformats.org/drawingml/2006/main">
            <a:off x="2686050" y="4152900"/>
            <a:ext cx="1238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EE7DF"/>
                </a:solidFill>
                <a:latin typeface="Aptos"/>
                <a:ea typeface="Aptos"/>
                <a:cs typeface="Aptos"/>
              </a:defRPr>
            </a:pPr>
            <a:r>
              <a:rPr sz="1275" b="1">
                <a:solidFill>
                  <a:srgbClr val="5EE7DF"/>
                </a:solidFill>
                <a:latin typeface="Aptos"/>
                <a:ea typeface="Aptos"/>
                <a:cs typeface="Aptos"/>
              </a:rPr>
              <a:t>Korean</a:t>
            </a:r>
          </a:p>
        </p:txBody>
      </p:sp>
      <p:sp>
        <p:nvSpPr>
          <p:cNvPr id="33" name="">
            <a:extLst xmlns:a="http://schemas.openxmlformats.org/drawingml/2006/main">
              <a:ext uri="{FF2B5EF4-FFF2-40B4-BE49-F238E27FC236}">
                <a16:creationId xmlns:a16="http://schemas.microsoft.com/office/drawing/2014/main" id="{31DFBC28-6215-4094-8435-C997963BAC99}"/>
              </a:ext>
            </a:extLst>
          </p:cNvPr>
          <p:cNvSpPr>
            <a:spLocks xmlns:a="http://schemas.openxmlformats.org/drawingml/2006/main" noGrp="1"/>
          </p:cNvSpPr>
          <p:nvPr/>
        </p:nvSpPr>
        <p:spPr>
          <a:xfrm xmlns:a="http://schemas.openxmlformats.org/drawingml/2006/main">
            <a:off x="4781550" y="40957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34" name="">
            <a:extLst xmlns:a="http://schemas.openxmlformats.org/drawingml/2006/main">
              <a:ext uri="{FF2B5EF4-FFF2-40B4-BE49-F238E27FC236}">
                <a16:creationId xmlns:a16="http://schemas.microsoft.com/office/drawing/2014/main" id="{D9D2313A-189E-40D5-A6D5-A35FB145A77B}"/>
              </a:ext>
            </a:extLst>
          </p:cNvPr>
          <p:cNvSpPr>
            <a:spLocks xmlns:a="http://schemas.openxmlformats.org/drawingml/2006/main" noGrp="1"/>
          </p:cNvSpPr>
          <p:nvPr/>
        </p:nvSpPr>
        <p:spPr>
          <a:xfrm xmlns:a="http://schemas.openxmlformats.org/drawingml/2006/main">
            <a:off x="4933950" y="41719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Bangla</a:t>
            </a:r>
          </a:p>
        </p:txBody>
      </p:sp>
      <p:sp>
        <p:nvSpPr>
          <p:cNvPr id="35" name="">
            <a:extLst xmlns:a="http://schemas.openxmlformats.org/drawingml/2006/main">
              <a:ext uri="{FF2B5EF4-FFF2-40B4-BE49-F238E27FC236}">
                <a16:creationId xmlns:a16="http://schemas.microsoft.com/office/drawing/2014/main" id="{9DA69986-70DA-4C97-BD32-B0523EA945B8}"/>
              </a:ext>
            </a:extLst>
          </p:cNvPr>
          <p:cNvSpPr>
            <a:spLocks xmlns:a="http://schemas.openxmlformats.org/drawingml/2006/main" noGrp="1"/>
          </p:cNvSpPr>
          <p:nvPr/>
        </p:nvSpPr>
        <p:spPr>
          <a:xfrm xmlns:a="http://schemas.openxmlformats.org/drawingml/2006/main">
            <a:off x="6191250" y="40957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36" name="">
            <a:extLst xmlns:a="http://schemas.openxmlformats.org/drawingml/2006/main">
              <a:ext uri="{FF2B5EF4-FFF2-40B4-BE49-F238E27FC236}">
                <a16:creationId xmlns:a16="http://schemas.microsoft.com/office/drawing/2014/main" id="{077E8771-B9BB-46D3-ABD5-F5A99E9CF073}"/>
              </a:ext>
            </a:extLst>
          </p:cNvPr>
          <p:cNvSpPr>
            <a:spLocks xmlns:a="http://schemas.openxmlformats.org/drawingml/2006/main" noGrp="1"/>
          </p:cNvSpPr>
          <p:nvPr/>
        </p:nvSpPr>
        <p:spPr>
          <a:xfrm xmlns:a="http://schemas.openxmlformats.org/drawingml/2006/main">
            <a:off x="6343650" y="41719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English</a:t>
            </a:r>
          </a:p>
        </p:txBody>
      </p:sp>
      <p:sp>
        <p:nvSpPr>
          <p:cNvPr id="37" name="">
            <a:extLst xmlns:a="http://schemas.openxmlformats.org/drawingml/2006/main">
              <a:ext uri="{FF2B5EF4-FFF2-40B4-BE49-F238E27FC236}">
                <a16:creationId xmlns:a16="http://schemas.microsoft.com/office/drawing/2014/main" id="{E6F32A92-D270-44A2-A160-9904741EFB81}"/>
              </a:ext>
            </a:extLst>
          </p:cNvPr>
          <p:cNvSpPr>
            <a:spLocks xmlns:a="http://schemas.openxmlformats.org/drawingml/2006/main" noGrp="1"/>
          </p:cNvSpPr>
          <p:nvPr/>
        </p:nvSpPr>
        <p:spPr>
          <a:xfrm xmlns:a="http://schemas.openxmlformats.org/drawingml/2006/main">
            <a:off x="7600950" y="40957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38" name="">
            <a:extLst xmlns:a="http://schemas.openxmlformats.org/drawingml/2006/main">
              <a:ext uri="{FF2B5EF4-FFF2-40B4-BE49-F238E27FC236}">
                <a16:creationId xmlns:a16="http://schemas.microsoft.com/office/drawing/2014/main" id="{0A8451FA-DD5A-4437-951A-428985233DF8}"/>
              </a:ext>
            </a:extLst>
          </p:cNvPr>
          <p:cNvSpPr>
            <a:spLocks xmlns:a="http://schemas.openxmlformats.org/drawingml/2006/main" noGrp="1"/>
          </p:cNvSpPr>
          <p:nvPr/>
        </p:nvSpPr>
        <p:spPr>
          <a:xfrm xmlns:a="http://schemas.openxmlformats.org/drawingml/2006/main">
            <a:off x="7753350" y="41719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Hindi</a:t>
            </a:r>
          </a:p>
        </p:txBody>
      </p:sp>
      <p:sp>
        <p:nvSpPr>
          <p:cNvPr id="39" name="">
            <a:extLst xmlns:a="http://schemas.openxmlformats.org/drawingml/2006/main">
              <a:ext uri="{FF2B5EF4-FFF2-40B4-BE49-F238E27FC236}">
                <a16:creationId xmlns:a16="http://schemas.microsoft.com/office/drawing/2014/main" id="{2D7AD90F-6257-4C38-9F04-7487E06E765E}"/>
              </a:ext>
            </a:extLst>
          </p:cNvPr>
          <p:cNvSpPr>
            <a:spLocks xmlns:a="http://schemas.openxmlformats.org/drawingml/2006/main" noGrp="1"/>
          </p:cNvSpPr>
          <p:nvPr/>
        </p:nvSpPr>
        <p:spPr>
          <a:xfrm xmlns:a="http://schemas.openxmlformats.org/drawingml/2006/main">
            <a:off x="800100" y="4705350"/>
            <a:ext cx="9639300" cy="552450"/>
          </a:xfrm>
          <a:prstGeom xmlns:a="http://schemas.openxmlformats.org/drawingml/2006/main" prst="roundRect">
            <a:avLst>
              <a:gd name="adj" fmla="val 13793"/>
            </a:avLst>
          </a:prstGeom>
          <a:solidFill xmlns:a="http://schemas.openxmlformats.org/drawingml/2006/main">
            <a:srgbClr val="0D2B4C"/>
          </a:solidFill>
          <a:ln xmlns:a="http://schemas.openxmlformats.org/drawingml/2006/main" w="9525">
            <a:solidFill>
              <a:srgbClr val="224F79"/>
            </a:solidFill>
            <a:prstDash val="solid"/>
          </a:ln>
        </p:spPr>
      </p:sp>
      <p:sp>
        <p:nvSpPr>
          <p:cNvPr id="40" name="">
            <a:extLst xmlns:a="http://schemas.openxmlformats.org/drawingml/2006/main">
              <a:ext uri="{FF2B5EF4-FFF2-40B4-BE49-F238E27FC236}">
                <a16:creationId xmlns:a16="http://schemas.microsoft.com/office/drawing/2014/main" id="{D6C4D2FF-7D3E-46BC-9CB1-F60309AFBF9F}"/>
              </a:ext>
            </a:extLst>
          </p:cNvPr>
          <p:cNvSpPr>
            <a:spLocks xmlns:a="http://schemas.openxmlformats.org/drawingml/2006/main" noGrp="1"/>
          </p:cNvSpPr>
          <p:nvPr/>
        </p:nvSpPr>
        <p:spPr>
          <a:xfrm xmlns:a="http://schemas.openxmlformats.org/drawingml/2006/main">
            <a:off x="1066800" y="4876800"/>
            <a:ext cx="1238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Alex</a:t>
            </a:r>
          </a:p>
        </p:txBody>
      </p:sp>
      <p:sp>
        <p:nvSpPr>
          <p:cNvPr id="41" name="">
            <a:extLst xmlns:a="http://schemas.openxmlformats.org/drawingml/2006/main">
              <a:ext uri="{FF2B5EF4-FFF2-40B4-BE49-F238E27FC236}">
                <a16:creationId xmlns:a16="http://schemas.microsoft.com/office/drawing/2014/main" id="{1C49DDBB-2CD7-493E-A6FE-96094B6A3678}"/>
              </a:ext>
            </a:extLst>
          </p:cNvPr>
          <p:cNvSpPr>
            <a:spLocks xmlns:a="http://schemas.openxmlformats.org/drawingml/2006/main" noGrp="1"/>
          </p:cNvSpPr>
          <p:nvPr/>
        </p:nvSpPr>
        <p:spPr>
          <a:xfrm xmlns:a="http://schemas.openxmlformats.org/drawingml/2006/main">
            <a:off x="2686050" y="4876800"/>
            <a:ext cx="1238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EE7DF"/>
                </a:solidFill>
                <a:latin typeface="Aptos"/>
                <a:ea typeface="Aptos"/>
                <a:cs typeface="Aptos"/>
              </a:defRPr>
            </a:pPr>
            <a:r>
              <a:rPr sz="1275" b="1">
                <a:solidFill>
                  <a:srgbClr val="5EE7DF"/>
                </a:solidFill>
                <a:latin typeface="Aptos"/>
                <a:ea typeface="Aptos"/>
                <a:cs typeface="Aptos"/>
              </a:rPr>
              <a:t>English</a:t>
            </a:r>
          </a:p>
        </p:txBody>
      </p:sp>
      <p:sp>
        <p:nvSpPr>
          <p:cNvPr id="42" name="">
            <a:extLst xmlns:a="http://schemas.openxmlformats.org/drawingml/2006/main">
              <a:ext uri="{FF2B5EF4-FFF2-40B4-BE49-F238E27FC236}">
                <a16:creationId xmlns:a16="http://schemas.microsoft.com/office/drawing/2014/main" id="{851E7E6A-74F4-4D85-8B8B-52D576F8554E}"/>
              </a:ext>
            </a:extLst>
          </p:cNvPr>
          <p:cNvSpPr>
            <a:spLocks xmlns:a="http://schemas.openxmlformats.org/drawingml/2006/main" noGrp="1"/>
          </p:cNvSpPr>
          <p:nvPr/>
        </p:nvSpPr>
        <p:spPr>
          <a:xfrm xmlns:a="http://schemas.openxmlformats.org/drawingml/2006/main">
            <a:off x="4781550" y="48196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43" name="">
            <a:extLst xmlns:a="http://schemas.openxmlformats.org/drawingml/2006/main">
              <a:ext uri="{FF2B5EF4-FFF2-40B4-BE49-F238E27FC236}">
                <a16:creationId xmlns:a16="http://schemas.microsoft.com/office/drawing/2014/main" id="{2AC8D56F-4D05-426D-ACAC-20F9DC54B03A}"/>
              </a:ext>
            </a:extLst>
          </p:cNvPr>
          <p:cNvSpPr>
            <a:spLocks xmlns:a="http://schemas.openxmlformats.org/drawingml/2006/main" noGrp="1"/>
          </p:cNvSpPr>
          <p:nvPr/>
        </p:nvSpPr>
        <p:spPr>
          <a:xfrm xmlns:a="http://schemas.openxmlformats.org/drawingml/2006/main">
            <a:off x="4933950" y="48958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Korean</a:t>
            </a:r>
          </a:p>
        </p:txBody>
      </p:sp>
      <p:sp>
        <p:nvSpPr>
          <p:cNvPr id="44" name="">
            <a:extLst xmlns:a="http://schemas.openxmlformats.org/drawingml/2006/main">
              <a:ext uri="{FF2B5EF4-FFF2-40B4-BE49-F238E27FC236}">
                <a16:creationId xmlns:a16="http://schemas.microsoft.com/office/drawing/2014/main" id="{D10676FB-5BC6-407E-9C38-9EC6EEC50BBD}"/>
              </a:ext>
            </a:extLst>
          </p:cNvPr>
          <p:cNvSpPr>
            <a:spLocks xmlns:a="http://schemas.openxmlformats.org/drawingml/2006/main" noGrp="1"/>
          </p:cNvSpPr>
          <p:nvPr/>
        </p:nvSpPr>
        <p:spPr>
          <a:xfrm xmlns:a="http://schemas.openxmlformats.org/drawingml/2006/main">
            <a:off x="6191250" y="48196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45" name="">
            <a:extLst xmlns:a="http://schemas.openxmlformats.org/drawingml/2006/main">
              <a:ext uri="{FF2B5EF4-FFF2-40B4-BE49-F238E27FC236}">
                <a16:creationId xmlns:a16="http://schemas.microsoft.com/office/drawing/2014/main" id="{4499D329-FCC9-402F-810E-2BDE246A128A}"/>
              </a:ext>
            </a:extLst>
          </p:cNvPr>
          <p:cNvSpPr>
            <a:spLocks xmlns:a="http://schemas.openxmlformats.org/drawingml/2006/main" noGrp="1"/>
          </p:cNvSpPr>
          <p:nvPr/>
        </p:nvSpPr>
        <p:spPr>
          <a:xfrm xmlns:a="http://schemas.openxmlformats.org/drawingml/2006/main">
            <a:off x="6343650" y="48958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French</a:t>
            </a:r>
          </a:p>
        </p:txBody>
      </p:sp>
      <p:sp>
        <p:nvSpPr>
          <p:cNvPr id="46" name="">
            <a:extLst xmlns:a="http://schemas.openxmlformats.org/drawingml/2006/main">
              <a:ext uri="{FF2B5EF4-FFF2-40B4-BE49-F238E27FC236}">
                <a16:creationId xmlns:a16="http://schemas.microsoft.com/office/drawing/2014/main" id="{BCF96C26-6DBA-4888-9D20-07F4C9308991}"/>
              </a:ext>
            </a:extLst>
          </p:cNvPr>
          <p:cNvSpPr>
            <a:spLocks xmlns:a="http://schemas.openxmlformats.org/drawingml/2006/main" noGrp="1"/>
          </p:cNvSpPr>
          <p:nvPr/>
        </p:nvSpPr>
        <p:spPr>
          <a:xfrm xmlns:a="http://schemas.openxmlformats.org/drawingml/2006/main">
            <a:off x="7600950" y="48196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47" name="">
            <a:extLst xmlns:a="http://schemas.openxmlformats.org/drawingml/2006/main">
              <a:ext uri="{FF2B5EF4-FFF2-40B4-BE49-F238E27FC236}">
                <a16:creationId xmlns:a16="http://schemas.microsoft.com/office/drawing/2014/main" id="{54293109-2652-49A0-9974-F898DBAF75A8}"/>
              </a:ext>
            </a:extLst>
          </p:cNvPr>
          <p:cNvSpPr>
            <a:spLocks xmlns:a="http://schemas.openxmlformats.org/drawingml/2006/main" noGrp="1"/>
          </p:cNvSpPr>
          <p:nvPr/>
        </p:nvSpPr>
        <p:spPr>
          <a:xfrm xmlns:a="http://schemas.openxmlformats.org/drawingml/2006/main">
            <a:off x="7753350" y="48958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Spanish</a:t>
            </a:r>
          </a:p>
        </p:txBody>
      </p:sp>
      <p:sp>
        <p:nvSpPr>
          <p:cNvPr id="48" name="">
            <a:extLst xmlns:a="http://schemas.openxmlformats.org/drawingml/2006/main">
              <a:ext uri="{FF2B5EF4-FFF2-40B4-BE49-F238E27FC236}">
                <a16:creationId xmlns:a16="http://schemas.microsoft.com/office/drawing/2014/main" id="{E36F1542-064C-4FC7-A420-1FF08EA5A1BC}"/>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7FA602B6-6EF2-40BA-8118-C6DBB39DD860}"/>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Translation uses Azure Translator API with fallback; summary is local mock AI; persistent storage target is Azure Cosmos DB.</a:t>
            </a:r>
          </a:p>
        </p:txBody>
      </p:sp>
    </p:spTree>
    <p:extLst>
      <p:ext uri="{BB962C8B-B14F-4D97-AF65-F5344CB8AC3E}">
        <p14:creationId xmlns:p14="http://schemas.microsoft.com/office/powerpoint/2010/main" val="13373561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5092C1-E57F-4B18-9A90-44225A4902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6D15113-AF59-4D06-BC2A-0157DFF3BC21}"/>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D1C8515-3452-4662-975D-1955252CDB02}"/>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B02B272-66CD-4061-9F02-830D26FA1B22}"/>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E537712-543D-4550-AF94-B503648F6FA0}"/>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38C976EC-F1BC-4AF4-B194-95E0230C6AF9}"/>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3ABE1302-3FD6-419E-A9E4-C2A89B08A45B}"/>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F076113-1D8A-436E-9DF3-D2BF88A579AB}"/>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A5B02472-39AE-443C-9A16-09E2DA1C51BE}"/>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345D10A-AAEC-40A4-83ED-A5BBE44A5E28}"/>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E3AC73D4-0680-48C1-8428-2BED9F4559F0}"/>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47D6A1A-60F9-4A2E-9C76-6049CE746C1C}"/>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7-label">
            <a:extLst xmlns:a="http://schemas.openxmlformats.org/drawingml/2006/main">
              <a:ext uri="{FF2B5EF4-FFF2-40B4-BE49-F238E27FC236}">
                <a16:creationId xmlns:a16="http://schemas.microsoft.com/office/drawing/2014/main" id="{036B2229-3BCB-4CC3-8D73-2785C6DC7B5F}"/>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CD608CA0-7FC4-4413-BCE1-59A107D6AC19}"/>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9405B6B7-5206-4427-9D94-D7F87F53E6F5}"/>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07</a:t>
            </a:r>
          </a:p>
        </p:txBody>
      </p:sp>
      <p:sp>
        <p:nvSpPr>
          <p:cNvPr id="16" name="kicker-7-label-main">
            <a:extLst xmlns:a="http://schemas.openxmlformats.org/drawingml/2006/main">
              <a:ext uri="{FF2B5EF4-FFF2-40B4-BE49-F238E27FC236}">
                <a16:creationId xmlns:a16="http://schemas.microsoft.com/office/drawing/2014/main" id="{EC50C3C3-4FE0-48D2-9986-ECD1E47FD867}"/>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HISTORY</a:t>
            </a:r>
          </a:p>
        </p:txBody>
      </p:sp>
      <p:sp>
        <p:nvSpPr>
          <p:cNvPr id="17" name="">
            <a:extLst xmlns:a="http://schemas.openxmlformats.org/drawingml/2006/main">
              <a:ext uri="{FF2B5EF4-FFF2-40B4-BE49-F238E27FC236}">
                <a16:creationId xmlns:a16="http://schemas.microsoft.com/office/drawing/2014/main" id="{B098DB30-BB51-4BCF-8F96-965712DC8F5B}"/>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Conversation memory makes the demo auditable and ready for persistent cloud storage.</a:t>
            </a:r>
          </a:p>
        </p:txBody>
      </p:sp>
      <p:sp>
        <p:nvSpPr>
          <p:cNvPr id="18" name="">
            <a:extLst xmlns:a="http://schemas.openxmlformats.org/drawingml/2006/main">
              <a:ext uri="{FF2B5EF4-FFF2-40B4-BE49-F238E27FC236}">
                <a16:creationId xmlns:a16="http://schemas.microsoft.com/office/drawing/2014/main" id="{E0C57F07-02A3-45F4-ADD3-F2D061075669}"/>
              </a:ext>
            </a:extLst>
          </p:cNvPr>
          <p:cNvSpPr>
            <a:spLocks xmlns:a="http://schemas.openxmlformats.org/drawingml/2006/main" noGrp="1"/>
          </p:cNvSpPr>
          <p:nvPr/>
        </p:nvSpPr>
        <p:spPr>
          <a:xfrm xmlns:a="http://schemas.openxmlformats.org/drawingml/2006/main">
            <a:off x="876300" y="2895600"/>
            <a:ext cx="4476750" cy="2419350"/>
          </a:xfrm>
          <a:prstGeom xmlns:a="http://schemas.openxmlformats.org/drawingml/2006/main" prst="roundRect">
            <a:avLst>
              <a:gd name="adj" fmla="val 3150"/>
            </a:avLst>
          </a:prstGeom>
          <a:solidFill xmlns:a="http://schemas.openxmlformats.org/drawingml/2006/main">
            <a:srgbClr val="061526"/>
          </a:solidFill>
          <a:ln xmlns:a="http://schemas.openxmlformats.org/drawingml/2006/main" w="9525">
            <a:solidFill>
              <a:srgbClr val="28608D"/>
            </a:solidFill>
            <a:prstDash val="solid"/>
          </a:ln>
        </p:spPr>
      </p:sp>
      <p:sp>
        <p:nvSpPr>
          <p:cNvPr id="19" name="">
            <a:extLst xmlns:a="http://schemas.openxmlformats.org/drawingml/2006/main">
              <a:ext uri="{FF2B5EF4-FFF2-40B4-BE49-F238E27FC236}">
                <a16:creationId xmlns:a16="http://schemas.microsoft.com/office/drawing/2014/main" id="{507A89E0-B352-43BE-91E0-2F1430CC7DB8}"/>
              </a:ext>
            </a:extLst>
          </p:cNvPr>
          <p:cNvSpPr>
            <a:spLocks xmlns:a="http://schemas.openxmlformats.org/drawingml/2006/main" noGrp="1"/>
          </p:cNvSpPr>
          <p:nvPr/>
        </p:nvSpPr>
        <p:spPr>
          <a:xfrm xmlns:a="http://schemas.openxmlformats.org/drawingml/2006/main">
            <a:off x="1200150" y="3124200"/>
            <a:ext cx="4000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5EE7DF"/>
                </a:solidFill>
                <a:latin typeface="Aptos"/>
                <a:ea typeface="Aptos"/>
                <a:cs typeface="Aptos"/>
              </a:defRPr>
            </a:pPr>
            <a:r>
              <a:rPr sz="2850" b="1">
                <a:solidFill>
                  <a:srgbClr val="5EE7DF"/>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8F8904CA-47B2-4730-AE02-41099BDB3374}"/>
              </a:ext>
            </a:extLst>
          </p:cNvPr>
          <p:cNvSpPr>
            <a:spLocks xmlns:a="http://schemas.openxmlformats.org/drawingml/2006/main" noGrp="1"/>
          </p:cNvSpPr>
          <p:nvPr/>
        </p:nvSpPr>
        <p:spPr>
          <a:xfrm xmlns:a="http://schemas.openxmlformats.org/drawingml/2006/main">
            <a:off x="1695450" y="316230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4F9FF"/>
                </a:solidFill>
                <a:latin typeface="Aptos Mono"/>
                <a:ea typeface="Aptos Mono"/>
                <a:cs typeface="Aptos Mono"/>
              </a:defRPr>
            </a:pPr>
            <a:r>
              <a:rPr sz="1350" b="0">
                <a:solidFill>
                  <a:srgbClr val="F4F9FF"/>
                </a:solidFill>
                <a:latin typeface="Aptos Mono"/>
                <a:ea typeface="Aptos Mono"/>
                <a:cs typeface="Aptos Mono"/>
              </a:rPr>
              <a:t>"senderName"</a:t>
            </a:r>
          </a:p>
        </p:txBody>
      </p:sp>
      <p:sp>
        <p:nvSpPr>
          <p:cNvPr id="21" name="">
            <a:extLst xmlns:a="http://schemas.openxmlformats.org/drawingml/2006/main">
              <a:ext uri="{FF2B5EF4-FFF2-40B4-BE49-F238E27FC236}">
                <a16:creationId xmlns:a16="http://schemas.microsoft.com/office/drawing/2014/main" id="{670350CF-F324-4296-A657-C8A23017856A}"/>
              </a:ext>
            </a:extLst>
          </p:cNvPr>
          <p:cNvSpPr>
            <a:spLocks xmlns:a="http://schemas.openxmlformats.org/drawingml/2006/main" noGrp="1"/>
          </p:cNvSpPr>
          <p:nvPr/>
        </p:nvSpPr>
        <p:spPr>
          <a:xfrm xmlns:a="http://schemas.openxmlformats.org/drawingml/2006/main">
            <a:off x="1695450" y="352425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4F9FF"/>
                </a:solidFill>
                <a:latin typeface="Aptos Mono"/>
                <a:ea typeface="Aptos Mono"/>
                <a:cs typeface="Aptos Mono"/>
              </a:defRPr>
            </a:pPr>
            <a:r>
              <a:rPr sz="1350" b="0">
                <a:solidFill>
                  <a:srgbClr val="F4F9FF"/>
                </a:solidFill>
                <a:latin typeface="Aptos Mono"/>
                <a:ea typeface="Aptos Mono"/>
                <a:cs typeface="Aptos Mono"/>
              </a:rPr>
              <a:t>"senderLanguage"</a:t>
            </a:r>
          </a:p>
        </p:txBody>
      </p:sp>
      <p:sp>
        <p:nvSpPr>
          <p:cNvPr id="22" name="">
            <a:extLst xmlns:a="http://schemas.openxmlformats.org/drawingml/2006/main">
              <a:ext uri="{FF2B5EF4-FFF2-40B4-BE49-F238E27FC236}">
                <a16:creationId xmlns:a16="http://schemas.microsoft.com/office/drawing/2014/main" id="{612F5053-28C0-4C41-A2F9-FF151CF6BC2A}"/>
              </a:ext>
            </a:extLst>
          </p:cNvPr>
          <p:cNvSpPr>
            <a:spLocks xmlns:a="http://schemas.openxmlformats.org/drawingml/2006/main" noGrp="1"/>
          </p:cNvSpPr>
          <p:nvPr/>
        </p:nvSpPr>
        <p:spPr>
          <a:xfrm xmlns:a="http://schemas.openxmlformats.org/drawingml/2006/main">
            <a:off x="1695450" y="388620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4F9FF"/>
                </a:solidFill>
                <a:latin typeface="Aptos Mono"/>
                <a:ea typeface="Aptos Mono"/>
                <a:cs typeface="Aptos Mono"/>
              </a:defRPr>
            </a:pPr>
            <a:r>
              <a:rPr sz="1350" b="0">
                <a:solidFill>
                  <a:srgbClr val="F4F9FF"/>
                </a:solidFill>
                <a:latin typeface="Aptos Mono"/>
                <a:ea typeface="Aptos Mono"/>
                <a:cs typeface="Aptos Mono"/>
              </a:rPr>
              <a:t>"originalText"</a:t>
            </a:r>
          </a:p>
        </p:txBody>
      </p:sp>
      <p:sp>
        <p:nvSpPr>
          <p:cNvPr id="23" name="">
            <a:extLst xmlns:a="http://schemas.openxmlformats.org/drawingml/2006/main">
              <a:ext uri="{FF2B5EF4-FFF2-40B4-BE49-F238E27FC236}">
                <a16:creationId xmlns:a16="http://schemas.microsoft.com/office/drawing/2014/main" id="{C2E6F843-5566-4401-9A15-89B1E870D197}"/>
              </a:ext>
            </a:extLst>
          </p:cNvPr>
          <p:cNvSpPr>
            <a:spLocks xmlns:a="http://schemas.openxmlformats.org/drawingml/2006/main" noGrp="1"/>
          </p:cNvSpPr>
          <p:nvPr/>
        </p:nvSpPr>
        <p:spPr>
          <a:xfrm xmlns:a="http://schemas.openxmlformats.org/drawingml/2006/main">
            <a:off x="1695450" y="424815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2E3A4"/>
                </a:solidFill>
                <a:latin typeface="Aptos Mono"/>
                <a:ea typeface="Aptos Mono"/>
                <a:cs typeface="Aptos Mono"/>
              </a:defRPr>
            </a:pPr>
            <a:r>
              <a:rPr sz="1350" b="0">
                <a:solidFill>
                  <a:srgbClr val="52E3A4"/>
                </a:solidFill>
                <a:latin typeface="Aptos Mono"/>
                <a:ea typeface="Aptos Mono"/>
                <a:cs typeface="Aptos Mono"/>
              </a:rPr>
              <a:t>"translatedVersions"</a:t>
            </a:r>
          </a:p>
        </p:txBody>
      </p:sp>
      <p:sp>
        <p:nvSpPr>
          <p:cNvPr id="24" name="">
            <a:extLst xmlns:a="http://schemas.openxmlformats.org/drawingml/2006/main">
              <a:ext uri="{FF2B5EF4-FFF2-40B4-BE49-F238E27FC236}">
                <a16:creationId xmlns:a16="http://schemas.microsoft.com/office/drawing/2014/main" id="{060EAC48-6053-49D6-AC48-33250F0EBA35}"/>
              </a:ext>
            </a:extLst>
          </p:cNvPr>
          <p:cNvSpPr>
            <a:spLocks xmlns:a="http://schemas.openxmlformats.org/drawingml/2006/main" noGrp="1"/>
          </p:cNvSpPr>
          <p:nvPr/>
        </p:nvSpPr>
        <p:spPr>
          <a:xfrm xmlns:a="http://schemas.openxmlformats.org/drawingml/2006/main">
            <a:off x="1695450" y="461010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4F9FF"/>
                </a:solidFill>
                <a:latin typeface="Aptos Mono"/>
                <a:ea typeface="Aptos Mono"/>
                <a:cs typeface="Aptos Mono"/>
              </a:defRPr>
            </a:pPr>
            <a:r>
              <a:rPr sz="1350" b="0">
                <a:solidFill>
                  <a:srgbClr val="F4F9FF"/>
                </a:solidFill>
                <a:latin typeface="Aptos Mono"/>
                <a:ea typeface="Aptos Mono"/>
                <a:cs typeface="Aptos Mono"/>
              </a:rPr>
              <a:t>"timestamp"</a:t>
            </a:r>
          </a:p>
        </p:txBody>
      </p:sp>
      <p:sp>
        <p:nvSpPr>
          <p:cNvPr id="25" name="">
            <a:extLst xmlns:a="http://schemas.openxmlformats.org/drawingml/2006/main">
              <a:ext uri="{FF2B5EF4-FFF2-40B4-BE49-F238E27FC236}">
                <a16:creationId xmlns:a16="http://schemas.microsoft.com/office/drawing/2014/main" id="{E27A379B-3405-4A01-85B7-7E647E29462B}"/>
              </a:ext>
            </a:extLst>
          </p:cNvPr>
          <p:cNvSpPr>
            <a:spLocks xmlns:a="http://schemas.openxmlformats.org/drawingml/2006/main" noGrp="1"/>
          </p:cNvSpPr>
          <p:nvPr/>
        </p:nvSpPr>
        <p:spPr>
          <a:xfrm xmlns:a="http://schemas.openxmlformats.org/drawingml/2006/main">
            <a:off x="1200150" y="4781550"/>
            <a:ext cx="4000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5EE7DF"/>
                </a:solidFill>
                <a:latin typeface="Aptos"/>
                <a:ea typeface="Aptos"/>
                <a:cs typeface="Aptos"/>
              </a:defRPr>
            </a:pPr>
            <a:r>
              <a:rPr sz="2850" b="1">
                <a:solidFill>
                  <a:srgbClr val="5EE7DF"/>
                </a:solidFill>
                <a:latin typeface="Aptos"/>
                <a:ea typeface="Aptos"/>
                <a:cs typeface="Aptos"/>
              </a:rPr>
              <a:t>}</a:t>
            </a:r>
          </a:p>
        </p:txBody>
      </p:sp>
      <p:sp>
        <p:nvSpPr>
          <p:cNvPr id="26" name="">
            <a:extLst xmlns:a="http://schemas.openxmlformats.org/drawingml/2006/main">
              <a:ext uri="{FF2B5EF4-FFF2-40B4-BE49-F238E27FC236}">
                <a16:creationId xmlns:a16="http://schemas.microsoft.com/office/drawing/2014/main" id="{F081B8E4-D6BC-4B0A-851B-CADE1174E345}"/>
              </a:ext>
            </a:extLst>
          </p:cNvPr>
          <p:cNvSpPr>
            <a:spLocks xmlns:a="http://schemas.openxmlformats.org/drawingml/2006/main" noGrp="1"/>
          </p:cNvSpPr>
          <p:nvPr/>
        </p:nvSpPr>
        <p:spPr>
          <a:xfrm xmlns:a="http://schemas.openxmlformats.org/drawingml/2006/main">
            <a:off x="6191250" y="2914650"/>
            <a:ext cx="37147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7" name="">
            <a:extLst xmlns:a="http://schemas.openxmlformats.org/drawingml/2006/main">
              <a:ext uri="{FF2B5EF4-FFF2-40B4-BE49-F238E27FC236}">
                <a16:creationId xmlns:a16="http://schemas.microsoft.com/office/drawing/2014/main" id="{E5D61117-E9CB-406F-A355-992D33F60E25}"/>
              </a:ext>
            </a:extLst>
          </p:cNvPr>
          <p:cNvSpPr>
            <a:spLocks xmlns:a="http://schemas.openxmlformats.org/drawingml/2006/main" noGrp="1"/>
          </p:cNvSpPr>
          <p:nvPr/>
        </p:nvSpPr>
        <p:spPr>
          <a:xfrm xmlns:a="http://schemas.openxmlformats.org/drawingml/2006/main">
            <a:off x="6191250" y="302895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40A6BA04-A983-470B-B6FC-BAFF6B8210DB}"/>
              </a:ext>
            </a:extLst>
          </p:cNvPr>
          <p:cNvSpPr>
            <a:spLocks xmlns:a="http://schemas.openxmlformats.org/drawingml/2006/main" noGrp="1"/>
          </p:cNvSpPr>
          <p:nvPr/>
        </p:nvSpPr>
        <p:spPr>
          <a:xfrm xmlns:a="http://schemas.openxmlformats.org/drawingml/2006/main">
            <a:off x="6419850" y="306705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Sender name</a:t>
            </a:r>
          </a:p>
        </p:txBody>
      </p:sp>
      <p:sp>
        <p:nvSpPr>
          <p:cNvPr id="29" name="">
            <a:extLst xmlns:a="http://schemas.openxmlformats.org/drawingml/2006/main">
              <a:ext uri="{FF2B5EF4-FFF2-40B4-BE49-F238E27FC236}">
                <a16:creationId xmlns:a16="http://schemas.microsoft.com/office/drawing/2014/main" id="{D4A9F637-A314-4E0A-88D8-FBB7A0A939E5}"/>
              </a:ext>
            </a:extLst>
          </p:cNvPr>
          <p:cNvSpPr>
            <a:spLocks xmlns:a="http://schemas.openxmlformats.org/drawingml/2006/main" noGrp="1"/>
          </p:cNvSpPr>
          <p:nvPr/>
        </p:nvSpPr>
        <p:spPr>
          <a:xfrm xmlns:a="http://schemas.openxmlformats.org/drawingml/2006/main">
            <a:off x="6191250" y="3524250"/>
            <a:ext cx="37147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30" name="">
            <a:extLst xmlns:a="http://schemas.openxmlformats.org/drawingml/2006/main">
              <a:ext uri="{FF2B5EF4-FFF2-40B4-BE49-F238E27FC236}">
                <a16:creationId xmlns:a16="http://schemas.microsoft.com/office/drawing/2014/main" id="{AFC93B65-5AF5-47BD-87DC-2F5682F608FD}"/>
              </a:ext>
            </a:extLst>
          </p:cNvPr>
          <p:cNvSpPr>
            <a:spLocks xmlns:a="http://schemas.openxmlformats.org/drawingml/2006/main" noGrp="1"/>
          </p:cNvSpPr>
          <p:nvPr/>
        </p:nvSpPr>
        <p:spPr>
          <a:xfrm xmlns:a="http://schemas.openxmlformats.org/drawingml/2006/main">
            <a:off x="6191250" y="3638550"/>
            <a:ext cx="38100" cy="304800"/>
          </a:xfrm>
          <a:prstGeom xmlns:a="http://schemas.openxmlformats.org/drawingml/2006/main" prst="rect">
            <a:avLst/>
          </a:prstGeom>
          <a:solidFill xmlns:a="http://schemas.openxmlformats.org/drawingml/2006/main">
            <a:srgbClr val="52E3A4"/>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C7A11C2F-FAFF-4247-A156-E981FCA37D54}"/>
              </a:ext>
            </a:extLst>
          </p:cNvPr>
          <p:cNvSpPr>
            <a:spLocks xmlns:a="http://schemas.openxmlformats.org/drawingml/2006/main" noGrp="1"/>
          </p:cNvSpPr>
          <p:nvPr/>
        </p:nvSpPr>
        <p:spPr>
          <a:xfrm xmlns:a="http://schemas.openxmlformats.org/drawingml/2006/main">
            <a:off x="6419850" y="367665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Sender language</a:t>
            </a:r>
          </a:p>
        </p:txBody>
      </p:sp>
      <p:sp>
        <p:nvSpPr>
          <p:cNvPr id="32" name="">
            <a:extLst xmlns:a="http://schemas.openxmlformats.org/drawingml/2006/main">
              <a:ext uri="{FF2B5EF4-FFF2-40B4-BE49-F238E27FC236}">
                <a16:creationId xmlns:a16="http://schemas.microsoft.com/office/drawing/2014/main" id="{0C5B6FD0-0BD5-42E5-8D1E-1713AAB12B51}"/>
              </a:ext>
            </a:extLst>
          </p:cNvPr>
          <p:cNvSpPr>
            <a:spLocks xmlns:a="http://schemas.openxmlformats.org/drawingml/2006/main" noGrp="1"/>
          </p:cNvSpPr>
          <p:nvPr/>
        </p:nvSpPr>
        <p:spPr>
          <a:xfrm xmlns:a="http://schemas.openxmlformats.org/drawingml/2006/main">
            <a:off x="6191250" y="4133850"/>
            <a:ext cx="37147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33" name="">
            <a:extLst xmlns:a="http://schemas.openxmlformats.org/drawingml/2006/main">
              <a:ext uri="{FF2B5EF4-FFF2-40B4-BE49-F238E27FC236}">
                <a16:creationId xmlns:a16="http://schemas.microsoft.com/office/drawing/2014/main" id="{1EA1FD84-4E41-417D-B2B9-37156364A1BC}"/>
              </a:ext>
            </a:extLst>
          </p:cNvPr>
          <p:cNvSpPr>
            <a:spLocks xmlns:a="http://schemas.openxmlformats.org/drawingml/2006/main" noGrp="1"/>
          </p:cNvSpPr>
          <p:nvPr/>
        </p:nvSpPr>
        <p:spPr>
          <a:xfrm xmlns:a="http://schemas.openxmlformats.org/drawingml/2006/main">
            <a:off x="6191250" y="424815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7F105B0A-43B9-46F5-9D1D-9D9B5ACE6B4F}"/>
              </a:ext>
            </a:extLst>
          </p:cNvPr>
          <p:cNvSpPr>
            <a:spLocks xmlns:a="http://schemas.openxmlformats.org/drawingml/2006/main" noGrp="1"/>
          </p:cNvSpPr>
          <p:nvPr/>
        </p:nvSpPr>
        <p:spPr>
          <a:xfrm xmlns:a="http://schemas.openxmlformats.org/drawingml/2006/main">
            <a:off x="6419850" y="428625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Original text</a:t>
            </a:r>
          </a:p>
        </p:txBody>
      </p:sp>
      <p:sp>
        <p:nvSpPr>
          <p:cNvPr id="35" name="">
            <a:extLst xmlns:a="http://schemas.openxmlformats.org/drawingml/2006/main">
              <a:ext uri="{FF2B5EF4-FFF2-40B4-BE49-F238E27FC236}">
                <a16:creationId xmlns:a16="http://schemas.microsoft.com/office/drawing/2014/main" id="{EF5435B0-F2E4-414B-8683-49D72472FF52}"/>
              </a:ext>
            </a:extLst>
          </p:cNvPr>
          <p:cNvSpPr>
            <a:spLocks xmlns:a="http://schemas.openxmlformats.org/drawingml/2006/main" noGrp="1"/>
          </p:cNvSpPr>
          <p:nvPr/>
        </p:nvSpPr>
        <p:spPr>
          <a:xfrm xmlns:a="http://schemas.openxmlformats.org/drawingml/2006/main">
            <a:off x="6191250" y="4743450"/>
            <a:ext cx="37147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36" name="">
            <a:extLst xmlns:a="http://schemas.openxmlformats.org/drawingml/2006/main">
              <a:ext uri="{FF2B5EF4-FFF2-40B4-BE49-F238E27FC236}">
                <a16:creationId xmlns:a16="http://schemas.microsoft.com/office/drawing/2014/main" id="{D41153BA-5160-4F6F-98AD-86E639D14F5C}"/>
              </a:ext>
            </a:extLst>
          </p:cNvPr>
          <p:cNvSpPr>
            <a:spLocks xmlns:a="http://schemas.openxmlformats.org/drawingml/2006/main" noGrp="1"/>
          </p:cNvSpPr>
          <p:nvPr/>
        </p:nvSpPr>
        <p:spPr>
          <a:xfrm xmlns:a="http://schemas.openxmlformats.org/drawingml/2006/main">
            <a:off x="6191250" y="4857750"/>
            <a:ext cx="38100" cy="304800"/>
          </a:xfrm>
          <a:prstGeom xmlns:a="http://schemas.openxmlformats.org/drawingml/2006/main" prst="rect">
            <a:avLst/>
          </a:prstGeom>
          <a:solidFill xmlns:a="http://schemas.openxmlformats.org/drawingml/2006/main">
            <a:srgbClr val="52E3A4"/>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F7D81FAB-F4BC-4314-8156-46AC27EA3266}"/>
              </a:ext>
            </a:extLst>
          </p:cNvPr>
          <p:cNvSpPr>
            <a:spLocks xmlns:a="http://schemas.openxmlformats.org/drawingml/2006/main" noGrp="1"/>
          </p:cNvSpPr>
          <p:nvPr/>
        </p:nvSpPr>
        <p:spPr>
          <a:xfrm xmlns:a="http://schemas.openxmlformats.org/drawingml/2006/main">
            <a:off x="6419850" y="489585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Translated versions</a:t>
            </a:r>
          </a:p>
        </p:txBody>
      </p:sp>
      <p:sp>
        <p:nvSpPr>
          <p:cNvPr id="38" name="">
            <a:extLst xmlns:a="http://schemas.openxmlformats.org/drawingml/2006/main">
              <a:ext uri="{FF2B5EF4-FFF2-40B4-BE49-F238E27FC236}">
                <a16:creationId xmlns:a16="http://schemas.microsoft.com/office/drawing/2014/main" id="{2AA2E2EA-8118-48FB-AE58-062B18AD8D7B}"/>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D071715F-86A6-4DB0-A38E-446F7BBD547A}"/>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Translation uses Azure Translator API with fallback; summary is local mock AI; persistent storage target is Azure Cosmos DB.</a:t>
            </a:r>
          </a:p>
        </p:txBody>
      </p:sp>
    </p:spTree>
    <p:extLst>
      <p:ext uri="{BB962C8B-B14F-4D97-AF65-F5344CB8AC3E}">
        <p14:creationId xmlns:p14="http://schemas.microsoft.com/office/powerpoint/2010/main" val="152965077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C4D5FE-5EDF-44A5-A18A-E41977A03FE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9C5F3FE-EF7F-432B-B9EB-654AFD73CCA6}"/>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4E582DF-3608-47B4-8C80-4CB5855C7269}"/>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E5F5ED0-F657-453D-BBD9-0AF102B1C204}"/>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F8B3E12-4696-4BB3-ABAA-971AD46EF974}"/>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FA2EB467-E744-4118-9F70-EADE81EA6F19}"/>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F53C307-C57C-486E-8F53-B6D5A3EAD475}"/>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4D53D1B6-5D6C-4240-B380-F1DAA6666CF7}"/>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E093B2F-0BB0-405D-A766-DAB1329D4090}"/>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221401AC-7B61-4CC6-86A8-A1A18F4E2F9E}"/>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97182BD8-F3DF-438C-B04A-77E776E2E47A}"/>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9BB27B56-B2B9-47DF-A766-FB724ADCE88D}"/>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8-label">
            <a:extLst xmlns:a="http://schemas.openxmlformats.org/drawingml/2006/main">
              <a:ext uri="{FF2B5EF4-FFF2-40B4-BE49-F238E27FC236}">
                <a16:creationId xmlns:a16="http://schemas.microsoft.com/office/drawing/2014/main" id="{B9791E7D-DCB3-4BB7-8AD2-1EA9B5A4DE85}"/>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4343521F-82F5-41F8-AD1A-FB622D66C43E}"/>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B339113-DE95-4165-952D-BB7277DB09AC}"/>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08</a:t>
            </a:r>
          </a:p>
        </p:txBody>
      </p:sp>
      <p:sp>
        <p:nvSpPr>
          <p:cNvPr id="16" name="kicker-8-label-main">
            <a:extLst xmlns:a="http://schemas.openxmlformats.org/drawingml/2006/main">
              <a:ext uri="{FF2B5EF4-FFF2-40B4-BE49-F238E27FC236}">
                <a16:creationId xmlns:a16="http://schemas.microsoft.com/office/drawing/2014/main" id="{91B8E48F-49FE-48C4-B7D0-2A97F00ECB8E}"/>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SUMMARY</a:t>
            </a:r>
          </a:p>
        </p:txBody>
      </p:sp>
      <p:sp>
        <p:nvSpPr>
          <p:cNvPr id="17" name="">
            <a:extLst xmlns:a="http://schemas.openxmlformats.org/drawingml/2006/main">
              <a:ext uri="{FF2B5EF4-FFF2-40B4-BE49-F238E27FC236}">
                <a16:creationId xmlns:a16="http://schemas.microsoft.com/office/drawing/2014/main" id="{F664BB5C-A4B3-4751-9E51-3789D42B4AF9}"/>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The summary feature converts raw chat into review-ready project notes.</a:t>
            </a:r>
          </a:p>
        </p:txBody>
      </p:sp>
      <p:sp>
        <p:nvSpPr>
          <p:cNvPr id="18" name="">
            <a:extLst xmlns:a="http://schemas.openxmlformats.org/drawingml/2006/main">
              <a:ext uri="{FF2B5EF4-FFF2-40B4-BE49-F238E27FC236}">
                <a16:creationId xmlns:a16="http://schemas.microsoft.com/office/drawing/2014/main" id="{AAF25834-7E0A-4CF3-AFC2-8FDFC691DC68}"/>
              </a:ext>
            </a:extLst>
          </p:cNvPr>
          <p:cNvSpPr>
            <a:spLocks xmlns:a="http://schemas.openxmlformats.org/drawingml/2006/main" noGrp="1"/>
          </p:cNvSpPr>
          <p:nvPr/>
        </p:nvSpPr>
        <p:spPr>
          <a:xfrm xmlns:a="http://schemas.openxmlformats.org/drawingml/2006/main">
            <a:off x="1085850" y="3028950"/>
            <a:ext cx="2609850" cy="742950"/>
          </a:xfrm>
          <a:prstGeom xmlns:a="http://schemas.openxmlformats.org/drawingml/2006/main" prst="roundRect">
            <a:avLst>
              <a:gd name="adj" fmla="val 10256"/>
            </a:avLst>
          </a:prstGeom>
          <a:solidFill xmlns:a="http://schemas.openxmlformats.org/drawingml/2006/main">
            <a:srgbClr val="0D2B4C"/>
          </a:solidFill>
          <a:ln xmlns:a="http://schemas.openxmlformats.org/drawingml/2006/main" w="9525">
            <a:solidFill>
              <a:srgbClr val="5EE7DF"/>
            </a:solidFill>
            <a:prstDash val="solid"/>
          </a:ln>
        </p:spPr>
      </p:sp>
      <p:sp>
        <p:nvSpPr>
          <p:cNvPr id="19" name="">
            <a:extLst xmlns:a="http://schemas.openxmlformats.org/drawingml/2006/main">
              <a:ext uri="{FF2B5EF4-FFF2-40B4-BE49-F238E27FC236}">
                <a16:creationId xmlns:a16="http://schemas.microsoft.com/office/drawing/2014/main" id="{672EB6BD-A162-40B7-97CA-50444A116962}"/>
              </a:ext>
            </a:extLst>
          </p:cNvPr>
          <p:cNvSpPr>
            <a:spLocks xmlns:a="http://schemas.openxmlformats.org/drawingml/2006/main" noGrp="1"/>
          </p:cNvSpPr>
          <p:nvPr/>
        </p:nvSpPr>
        <p:spPr>
          <a:xfrm xmlns:a="http://schemas.openxmlformats.org/drawingml/2006/main">
            <a:off x="1276350" y="321945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Main topic</a:t>
            </a:r>
          </a:p>
        </p:txBody>
      </p:sp>
      <p:sp>
        <p:nvSpPr>
          <p:cNvPr id="20" name="">
            <a:extLst xmlns:a="http://schemas.openxmlformats.org/drawingml/2006/main">
              <a:ext uri="{FF2B5EF4-FFF2-40B4-BE49-F238E27FC236}">
                <a16:creationId xmlns:a16="http://schemas.microsoft.com/office/drawing/2014/main" id="{76554B60-4C06-4F6D-9F18-A9BAA240A771}"/>
              </a:ext>
            </a:extLst>
          </p:cNvPr>
          <p:cNvSpPr>
            <a:spLocks xmlns:a="http://schemas.openxmlformats.org/drawingml/2006/main" noGrp="1"/>
          </p:cNvSpPr>
          <p:nvPr/>
        </p:nvSpPr>
        <p:spPr>
          <a:xfrm xmlns:a="http://schemas.openxmlformats.org/drawingml/2006/main">
            <a:off x="1276350" y="348615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8BED6"/>
                </a:solidFill>
                <a:latin typeface="Aptos"/>
                <a:ea typeface="Aptos"/>
                <a:cs typeface="Aptos"/>
              </a:defRPr>
            </a:pPr>
            <a:r>
              <a:rPr sz="825" b="0">
                <a:solidFill>
                  <a:srgbClr val="A8BED6"/>
                </a:solidFill>
                <a:latin typeface="Aptos"/>
                <a:ea typeface="Aptos"/>
                <a:cs typeface="Aptos"/>
              </a:rPr>
              <a:t>Structured output</a:t>
            </a:r>
          </a:p>
        </p:txBody>
      </p:sp>
      <p:sp>
        <p:nvSpPr>
          <p:cNvPr id="21" name="">
            <a:extLst xmlns:a="http://schemas.openxmlformats.org/drawingml/2006/main">
              <a:ext uri="{FF2B5EF4-FFF2-40B4-BE49-F238E27FC236}">
                <a16:creationId xmlns:a16="http://schemas.microsoft.com/office/drawing/2014/main" id="{853A981E-6818-4F3C-A40C-0C98BCF89BD7}"/>
              </a:ext>
            </a:extLst>
          </p:cNvPr>
          <p:cNvSpPr>
            <a:spLocks xmlns:a="http://schemas.openxmlformats.org/drawingml/2006/main" noGrp="1"/>
          </p:cNvSpPr>
          <p:nvPr/>
        </p:nvSpPr>
        <p:spPr>
          <a:xfrm xmlns:a="http://schemas.openxmlformats.org/drawingml/2006/main">
            <a:off x="4171950" y="3028950"/>
            <a:ext cx="2609850" cy="742950"/>
          </a:xfrm>
          <a:prstGeom xmlns:a="http://schemas.openxmlformats.org/drawingml/2006/main" prst="roundRect">
            <a:avLst>
              <a:gd name="adj" fmla="val 10256"/>
            </a:avLst>
          </a:prstGeom>
          <a:solidFill xmlns:a="http://schemas.openxmlformats.org/drawingml/2006/main">
            <a:srgbClr val="0D2B4C"/>
          </a:solidFill>
          <a:ln xmlns:a="http://schemas.openxmlformats.org/drawingml/2006/main" w="9525">
            <a:solidFill>
              <a:srgbClr val="27597F"/>
            </a:solidFill>
            <a:prstDash val="solid"/>
          </a:ln>
        </p:spPr>
      </p:sp>
      <p:sp>
        <p:nvSpPr>
          <p:cNvPr id="22" name="">
            <a:extLst xmlns:a="http://schemas.openxmlformats.org/drawingml/2006/main">
              <a:ext uri="{FF2B5EF4-FFF2-40B4-BE49-F238E27FC236}">
                <a16:creationId xmlns:a16="http://schemas.microsoft.com/office/drawing/2014/main" id="{9FBAE60C-5F63-4AB9-9687-9AC14AEEDC78}"/>
              </a:ext>
            </a:extLst>
          </p:cNvPr>
          <p:cNvSpPr>
            <a:spLocks xmlns:a="http://schemas.openxmlformats.org/drawingml/2006/main" noGrp="1"/>
          </p:cNvSpPr>
          <p:nvPr/>
        </p:nvSpPr>
        <p:spPr>
          <a:xfrm xmlns:a="http://schemas.openxmlformats.org/drawingml/2006/main">
            <a:off x="4362450" y="321945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Key points</a:t>
            </a:r>
          </a:p>
        </p:txBody>
      </p:sp>
      <p:sp>
        <p:nvSpPr>
          <p:cNvPr id="23" name="">
            <a:extLst xmlns:a="http://schemas.openxmlformats.org/drawingml/2006/main">
              <a:ext uri="{FF2B5EF4-FFF2-40B4-BE49-F238E27FC236}">
                <a16:creationId xmlns:a16="http://schemas.microsoft.com/office/drawing/2014/main" id="{04850EE0-F366-4615-9BB1-60EE3A836F62}"/>
              </a:ext>
            </a:extLst>
          </p:cNvPr>
          <p:cNvSpPr>
            <a:spLocks xmlns:a="http://schemas.openxmlformats.org/drawingml/2006/main" noGrp="1"/>
          </p:cNvSpPr>
          <p:nvPr/>
        </p:nvSpPr>
        <p:spPr>
          <a:xfrm xmlns:a="http://schemas.openxmlformats.org/drawingml/2006/main">
            <a:off x="4362450" y="348615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8BED6"/>
                </a:solidFill>
                <a:latin typeface="Aptos"/>
                <a:ea typeface="Aptos"/>
                <a:cs typeface="Aptos"/>
              </a:defRPr>
            </a:pPr>
            <a:r>
              <a:rPr sz="825" b="0">
                <a:solidFill>
                  <a:srgbClr val="A8BED6"/>
                </a:solidFill>
                <a:latin typeface="Aptos"/>
                <a:ea typeface="Aptos"/>
                <a:cs typeface="Aptos"/>
              </a:rPr>
              <a:t>Structured output</a:t>
            </a:r>
          </a:p>
        </p:txBody>
      </p:sp>
      <p:sp>
        <p:nvSpPr>
          <p:cNvPr id="24" name="">
            <a:extLst xmlns:a="http://schemas.openxmlformats.org/drawingml/2006/main">
              <a:ext uri="{FF2B5EF4-FFF2-40B4-BE49-F238E27FC236}">
                <a16:creationId xmlns:a16="http://schemas.microsoft.com/office/drawing/2014/main" id="{1DEE814B-F5E2-4732-9F7D-25B0CE5915CA}"/>
              </a:ext>
            </a:extLst>
          </p:cNvPr>
          <p:cNvSpPr>
            <a:spLocks xmlns:a="http://schemas.openxmlformats.org/drawingml/2006/main" noGrp="1"/>
          </p:cNvSpPr>
          <p:nvPr/>
        </p:nvSpPr>
        <p:spPr>
          <a:xfrm xmlns:a="http://schemas.openxmlformats.org/drawingml/2006/main">
            <a:off x="7258050" y="3028950"/>
            <a:ext cx="2609850" cy="742950"/>
          </a:xfrm>
          <a:prstGeom xmlns:a="http://schemas.openxmlformats.org/drawingml/2006/main" prst="roundRect">
            <a:avLst>
              <a:gd name="adj" fmla="val 10256"/>
            </a:avLst>
          </a:prstGeom>
          <a:solidFill xmlns:a="http://schemas.openxmlformats.org/drawingml/2006/main">
            <a:srgbClr val="0D2B4C"/>
          </a:solidFill>
          <a:ln xmlns:a="http://schemas.openxmlformats.org/drawingml/2006/main" w="9525">
            <a:solidFill>
              <a:srgbClr val="27597F"/>
            </a:solidFill>
            <a:prstDash val="solid"/>
          </a:ln>
        </p:spPr>
      </p:sp>
      <p:sp>
        <p:nvSpPr>
          <p:cNvPr id="25" name="">
            <a:extLst xmlns:a="http://schemas.openxmlformats.org/drawingml/2006/main">
              <a:ext uri="{FF2B5EF4-FFF2-40B4-BE49-F238E27FC236}">
                <a16:creationId xmlns:a16="http://schemas.microsoft.com/office/drawing/2014/main" id="{2913F846-EBEC-4A2C-AD20-5B3CC715E54D}"/>
              </a:ext>
            </a:extLst>
          </p:cNvPr>
          <p:cNvSpPr>
            <a:spLocks xmlns:a="http://schemas.openxmlformats.org/drawingml/2006/main" noGrp="1"/>
          </p:cNvSpPr>
          <p:nvPr/>
        </p:nvSpPr>
        <p:spPr>
          <a:xfrm xmlns:a="http://schemas.openxmlformats.org/drawingml/2006/main">
            <a:off x="7448550" y="321945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Decisions</a:t>
            </a:r>
          </a:p>
        </p:txBody>
      </p:sp>
      <p:sp>
        <p:nvSpPr>
          <p:cNvPr id="26" name="">
            <a:extLst xmlns:a="http://schemas.openxmlformats.org/drawingml/2006/main">
              <a:ext uri="{FF2B5EF4-FFF2-40B4-BE49-F238E27FC236}">
                <a16:creationId xmlns:a16="http://schemas.microsoft.com/office/drawing/2014/main" id="{6C39C051-28B6-4ED1-99EC-631FD3D6CE0A}"/>
              </a:ext>
            </a:extLst>
          </p:cNvPr>
          <p:cNvSpPr>
            <a:spLocks xmlns:a="http://schemas.openxmlformats.org/drawingml/2006/main" noGrp="1"/>
          </p:cNvSpPr>
          <p:nvPr/>
        </p:nvSpPr>
        <p:spPr>
          <a:xfrm xmlns:a="http://schemas.openxmlformats.org/drawingml/2006/main">
            <a:off x="7448550" y="348615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8BED6"/>
                </a:solidFill>
                <a:latin typeface="Aptos"/>
                <a:ea typeface="Aptos"/>
                <a:cs typeface="Aptos"/>
              </a:defRPr>
            </a:pPr>
            <a:r>
              <a:rPr sz="825" b="0">
                <a:solidFill>
                  <a:srgbClr val="A8BED6"/>
                </a:solidFill>
                <a:latin typeface="Aptos"/>
                <a:ea typeface="Aptos"/>
                <a:cs typeface="Aptos"/>
              </a:rPr>
              <a:t>Structured output</a:t>
            </a:r>
          </a:p>
        </p:txBody>
      </p:sp>
      <p:sp>
        <p:nvSpPr>
          <p:cNvPr id="27" name="">
            <a:extLst xmlns:a="http://schemas.openxmlformats.org/drawingml/2006/main">
              <a:ext uri="{FF2B5EF4-FFF2-40B4-BE49-F238E27FC236}">
                <a16:creationId xmlns:a16="http://schemas.microsoft.com/office/drawing/2014/main" id="{9C99CD90-F135-4879-9D75-B13A5100054E}"/>
              </a:ext>
            </a:extLst>
          </p:cNvPr>
          <p:cNvSpPr>
            <a:spLocks xmlns:a="http://schemas.openxmlformats.org/drawingml/2006/main" noGrp="1"/>
          </p:cNvSpPr>
          <p:nvPr/>
        </p:nvSpPr>
        <p:spPr>
          <a:xfrm xmlns:a="http://schemas.openxmlformats.org/drawingml/2006/main">
            <a:off x="1085850" y="4152900"/>
            <a:ext cx="2609850" cy="742950"/>
          </a:xfrm>
          <a:prstGeom xmlns:a="http://schemas.openxmlformats.org/drawingml/2006/main" prst="roundRect">
            <a:avLst>
              <a:gd name="adj" fmla="val 10256"/>
            </a:avLst>
          </a:prstGeom>
          <a:solidFill xmlns:a="http://schemas.openxmlformats.org/drawingml/2006/main">
            <a:srgbClr val="0D2B4C"/>
          </a:solidFill>
          <a:ln xmlns:a="http://schemas.openxmlformats.org/drawingml/2006/main" w="9525">
            <a:solidFill>
              <a:srgbClr val="27597F"/>
            </a:solidFill>
            <a:prstDash val="solid"/>
          </a:ln>
        </p:spPr>
      </p:sp>
      <p:sp>
        <p:nvSpPr>
          <p:cNvPr id="28" name="">
            <a:extLst xmlns:a="http://schemas.openxmlformats.org/drawingml/2006/main">
              <a:ext uri="{FF2B5EF4-FFF2-40B4-BE49-F238E27FC236}">
                <a16:creationId xmlns:a16="http://schemas.microsoft.com/office/drawing/2014/main" id="{AC9242BE-4406-4BB3-818B-DC64AF896CFE}"/>
              </a:ext>
            </a:extLst>
          </p:cNvPr>
          <p:cNvSpPr>
            <a:spLocks xmlns:a="http://schemas.openxmlformats.org/drawingml/2006/main" noGrp="1"/>
          </p:cNvSpPr>
          <p:nvPr/>
        </p:nvSpPr>
        <p:spPr>
          <a:xfrm xmlns:a="http://schemas.openxmlformats.org/drawingml/2006/main">
            <a:off x="1276350" y="434340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Action items</a:t>
            </a:r>
          </a:p>
        </p:txBody>
      </p:sp>
      <p:sp>
        <p:nvSpPr>
          <p:cNvPr id="29" name="">
            <a:extLst xmlns:a="http://schemas.openxmlformats.org/drawingml/2006/main">
              <a:ext uri="{FF2B5EF4-FFF2-40B4-BE49-F238E27FC236}">
                <a16:creationId xmlns:a16="http://schemas.microsoft.com/office/drawing/2014/main" id="{79788380-E236-421A-8788-9ABB43F483F2}"/>
              </a:ext>
            </a:extLst>
          </p:cNvPr>
          <p:cNvSpPr>
            <a:spLocks xmlns:a="http://schemas.openxmlformats.org/drawingml/2006/main" noGrp="1"/>
          </p:cNvSpPr>
          <p:nvPr/>
        </p:nvSpPr>
        <p:spPr>
          <a:xfrm xmlns:a="http://schemas.openxmlformats.org/drawingml/2006/main">
            <a:off x="1276350" y="461010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8BED6"/>
                </a:solidFill>
                <a:latin typeface="Aptos"/>
                <a:ea typeface="Aptos"/>
                <a:cs typeface="Aptos"/>
              </a:defRPr>
            </a:pPr>
            <a:r>
              <a:rPr sz="825" b="0">
                <a:solidFill>
                  <a:srgbClr val="A8BED6"/>
                </a:solidFill>
                <a:latin typeface="Aptos"/>
                <a:ea typeface="Aptos"/>
                <a:cs typeface="Aptos"/>
              </a:rPr>
              <a:t>Structured output</a:t>
            </a:r>
          </a:p>
        </p:txBody>
      </p:sp>
      <p:sp>
        <p:nvSpPr>
          <p:cNvPr id="30" name="">
            <a:extLst xmlns:a="http://schemas.openxmlformats.org/drawingml/2006/main">
              <a:ext uri="{FF2B5EF4-FFF2-40B4-BE49-F238E27FC236}">
                <a16:creationId xmlns:a16="http://schemas.microsoft.com/office/drawing/2014/main" id="{6C12792B-CC30-46AE-823A-D3C173D0E0CD}"/>
              </a:ext>
            </a:extLst>
          </p:cNvPr>
          <p:cNvSpPr>
            <a:spLocks xmlns:a="http://schemas.openxmlformats.org/drawingml/2006/main" noGrp="1"/>
          </p:cNvSpPr>
          <p:nvPr/>
        </p:nvSpPr>
        <p:spPr>
          <a:xfrm xmlns:a="http://schemas.openxmlformats.org/drawingml/2006/main">
            <a:off x="4171950" y="4152900"/>
            <a:ext cx="2609850" cy="742950"/>
          </a:xfrm>
          <a:prstGeom xmlns:a="http://schemas.openxmlformats.org/drawingml/2006/main" prst="roundRect">
            <a:avLst>
              <a:gd name="adj" fmla="val 10256"/>
            </a:avLst>
          </a:prstGeom>
          <a:solidFill xmlns:a="http://schemas.openxmlformats.org/drawingml/2006/main">
            <a:srgbClr val="0D2B4C"/>
          </a:solidFill>
          <a:ln xmlns:a="http://schemas.openxmlformats.org/drawingml/2006/main" w="9525">
            <a:solidFill>
              <a:srgbClr val="27597F"/>
            </a:solidFill>
            <a:prstDash val="solid"/>
          </a:ln>
        </p:spPr>
      </p:sp>
      <p:sp>
        <p:nvSpPr>
          <p:cNvPr id="31" name="">
            <a:extLst xmlns:a="http://schemas.openxmlformats.org/drawingml/2006/main">
              <a:ext uri="{FF2B5EF4-FFF2-40B4-BE49-F238E27FC236}">
                <a16:creationId xmlns:a16="http://schemas.microsoft.com/office/drawing/2014/main" id="{C7DEA79E-E898-4286-82AF-1FCB2ED07241}"/>
              </a:ext>
            </a:extLst>
          </p:cNvPr>
          <p:cNvSpPr>
            <a:spLocks xmlns:a="http://schemas.openxmlformats.org/drawingml/2006/main" noGrp="1"/>
          </p:cNvSpPr>
          <p:nvPr/>
        </p:nvSpPr>
        <p:spPr>
          <a:xfrm xmlns:a="http://schemas.openxmlformats.org/drawingml/2006/main">
            <a:off x="4362450" y="434340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Participants</a:t>
            </a:r>
          </a:p>
        </p:txBody>
      </p:sp>
      <p:sp>
        <p:nvSpPr>
          <p:cNvPr id="32" name="">
            <a:extLst xmlns:a="http://schemas.openxmlformats.org/drawingml/2006/main">
              <a:ext uri="{FF2B5EF4-FFF2-40B4-BE49-F238E27FC236}">
                <a16:creationId xmlns:a16="http://schemas.microsoft.com/office/drawing/2014/main" id="{9CBFC9CE-EB8F-48CB-8BA1-FD991858219E}"/>
              </a:ext>
            </a:extLst>
          </p:cNvPr>
          <p:cNvSpPr>
            <a:spLocks xmlns:a="http://schemas.openxmlformats.org/drawingml/2006/main" noGrp="1"/>
          </p:cNvSpPr>
          <p:nvPr/>
        </p:nvSpPr>
        <p:spPr>
          <a:xfrm xmlns:a="http://schemas.openxmlformats.org/drawingml/2006/main">
            <a:off x="4362450" y="461010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8BED6"/>
                </a:solidFill>
                <a:latin typeface="Aptos"/>
                <a:ea typeface="Aptos"/>
                <a:cs typeface="Aptos"/>
              </a:defRPr>
            </a:pPr>
            <a:r>
              <a:rPr sz="825" b="0">
                <a:solidFill>
                  <a:srgbClr val="A8BED6"/>
                </a:solidFill>
                <a:latin typeface="Aptos"/>
                <a:ea typeface="Aptos"/>
                <a:cs typeface="Aptos"/>
              </a:rPr>
              <a:t>Structured output</a:t>
            </a:r>
          </a:p>
        </p:txBody>
      </p:sp>
      <p:sp>
        <p:nvSpPr>
          <p:cNvPr id="33" name="">
            <a:extLst xmlns:a="http://schemas.openxmlformats.org/drawingml/2006/main">
              <a:ext uri="{FF2B5EF4-FFF2-40B4-BE49-F238E27FC236}">
                <a16:creationId xmlns:a16="http://schemas.microsoft.com/office/drawing/2014/main" id="{8EAADD5F-825B-4205-90CE-E0E311AF93B5}"/>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291CA098-1855-428E-9B1A-64646FE74BC4}"/>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Translation uses Azure Translator API with fallback; summary is local mock AI; persistent storage target is Azure Cosmos DB.</a:t>
            </a:r>
          </a:p>
        </p:txBody>
      </p:sp>
    </p:spTree>
    <p:extLst>
      <p:ext uri="{BB962C8B-B14F-4D97-AF65-F5344CB8AC3E}">
        <p14:creationId xmlns:p14="http://schemas.microsoft.com/office/powerpoint/2010/main" val="11750482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293E99B-845E-4E7B-A3F4-30A0344238F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25BE898-FA8C-457D-8E3C-03852C451421}"/>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821B6C0-386A-460B-A74A-4DAFD8A963CE}"/>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31E25D93-C473-409A-9E51-2A0BA9E20CCE}"/>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B6357E8-AB32-4744-8423-DA21BB7AF7A0}"/>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AFB5675-A15D-4EB1-8713-422638E4C4FC}"/>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55D6772-B781-4DDD-BCD8-C0136574DB89}"/>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1762EC2-1C5B-48AF-8A26-93AF3550848F}"/>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454EFEA-3621-40CF-9ABD-947A47E2C9C5}"/>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4FA34DC-2008-45FD-A6B1-A43E0978EE5B}"/>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DAC60396-9AFD-4D90-9E63-B59D8AF850DD}"/>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D842F66-B647-438F-A0A9-C152EB28FD9D}"/>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9-label">
            <a:extLst xmlns:a="http://schemas.openxmlformats.org/drawingml/2006/main">
              <a:ext uri="{FF2B5EF4-FFF2-40B4-BE49-F238E27FC236}">
                <a16:creationId xmlns:a16="http://schemas.microsoft.com/office/drawing/2014/main" id="{ECF45E3A-1A0F-4D50-ACAF-322D98522382}"/>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488B9DCB-6E1B-4C43-B9DC-CB71E0734F0A}"/>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F51A53F8-FB61-4292-9BBD-AC0492FCE133}"/>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09</a:t>
            </a:r>
          </a:p>
        </p:txBody>
      </p:sp>
      <p:sp>
        <p:nvSpPr>
          <p:cNvPr id="16" name="kicker-9-label-main">
            <a:extLst xmlns:a="http://schemas.openxmlformats.org/drawingml/2006/main">
              <a:ext uri="{FF2B5EF4-FFF2-40B4-BE49-F238E27FC236}">
                <a16:creationId xmlns:a16="http://schemas.microsoft.com/office/drawing/2014/main" id="{59355AD0-4FCF-442B-A981-C5492F28C192}"/>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AZURE ROADMAP</a:t>
            </a:r>
          </a:p>
        </p:txBody>
      </p:sp>
      <p:sp>
        <p:nvSpPr>
          <p:cNvPr id="17" name="">
            <a:extLst xmlns:a="http://schemas.openxmlformats.org/drawingml/2006/main">
              <a:ext uri="{FF2B5EF4-FFF2-40B4-BE49-F238E27FC236}">
                <a16:creationId xmlns:a16="http://schemas.microsoft.com/office/drawing/2014/main" id="{D343E888-76AA-4F6C-BCCE-F15418F054F3}"/>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The prototype is intentionally shaped for Azure AI and cloud database integration.</a:t>
            </a:r>
          </a:p>
        </p:txBody>
      </p:sp>
      <p:sp>
        <p:nvSpPr>
          <p:cNvPr id="18" name="">
            <a:extLst xmlns:a="http://schemas.openxmlformats.org/drawingml/2006/main">
              <a:ext uri="{FF2B5EF4-FFF2-40B4-BE49-F238E27FC236}">
                <a16:creationId xmlns:a16="http://schemas.microsoft.com/office/drawing/2014/main" id="{ECA4870A-A5FE-4A94-BF07-4BC893E51C82}"/>
              </a:ext>
            </a:extLst>
          </p:cNvPr>
          <p:cNvSpPr>
            <a:spLocks xmlns:a="http://schemas.openxmlformats.org/drawingml/2006/main" noGrp="1"/>
          </p:cNvSpPr>
          <p:nvPr/>
        </p:nvSpPr>
        <p:spPr>
          <a:xfrm xmlns:a="http://schemas.openxmlformats.org/drawingml/2006/main">
            <a:off x="1238250" y="3638550"/>
            <a:ext cx="8953500" cy="38100"/>
          </a:xfrm>
          <a:prstGeom xmlns:a="http://schemas.openxmlformats.org/drawingml/2006/main" prst="rect">
            <a:avLst/>
          </a:prstGeom>
          <a:solidFill xmlns:a="http://schemas.openxmlformats.org/drawingml/2006/main">
            <a:srgbClr val="255F8E"/>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78102702-A304-42E1-A2C5-5E1B743F2660}"/>
              </a:ext>
            </a:extLst>
          </p:cNvPr>
          <p:cNvSpPr>
            <a:spLocks xmlns:a="http://schemas.openxmlformats.org/drawingml/2006/main" noGrp="1"/>
          </p:cNvSpPr>
          <p:nvPr/>
        </p:nvSpPr>
        <p:spPr>
          <a:xfrm xmlns:a="http://schemas.openxmlformats.org/drawingml/2006/main">
            <a:off x="1200150" y="3486150"/>
            <a:ext cx="323850" cy="323850"/>
          </a:xfrm>
          <a:prstGeom xmlns:a="http://schemas.openxmlformats.org/drawingml/2006/main" prst="ellipse">
            <a:avLst/>
          </a:prstGeom>
          <a:solidFill xmlns:a="http://schemas.openxmlformats.org/drawingml/2006/main">
            <a:srgbClr val="5EE7DF"/>
          </a:solidFill>
          <a:ln xmlns:a="http://schemas.openxmlformats.org/drawingml/2006/main" w="19050">
            <a:solidFill>
              <a:srgbClr val="5EE7DF"/>
            </a:solidFill>
            <a:prstDash val="solid"/>
          </a:ln>
        </p:spPr>
      </p:sp>
      <p:sp>
        <p:nvSpPr>
          <p:cNvPr id="20" name="">
            <a:extLst xmlns:a="http://schemas.openxmlformats.org/drawingml/2006/main">
              <a:ext uri="{FF2B5EF4-FFF2-40B4-BE49-F238E27FC236}">
                <a16:creationId xmlns:a16="http://schemas.microsoft.com/office/drawing/2014/main" id="{6B54BFF7-5901-4833-B2BE-939A36651368}"/>
              </a:ext>
            </a:extLst>
          </p:cNvPr>
          <p:cNvSpPr>
            <a:spLocks xmlns:a="http://schemas.openxmlformats.org/drawingml/2006/main" noGrp="1"/>
          </p:cNvSpPr>
          <p:nvPr/>
        </p:nvSpPr>
        <p:spPr>
          <a:xfrm xmlns:a="http://schemas.openxmlformats.org/drawingml/2006/main">
            <a:off x="742950" y="4038600"/>
            <a:ext cx="1238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4F9FF"/>
                </a:solidFill>
                <a:latin typeface="Aptos"/>
                <a:ea typeface="Aptos"/>
                <a:cs typeface="Aptos"/>
              </a:defRPr>
            </a:pPr>
            <a:r>
              <a:rPr sz="1200" b="1">
                <a:solidFill>
                  <a:srgbClr val="F4F9FF"/>
                </a:solidFill>
                <a:latin typeface="Aptos"/>
                <a:ea typeface="Aptos"/>
                <a:cs typeface="Aptos"/>
              </a:rPr>
              <a:t>Prototype</a:t>
            </a:r>
          </a:p>
        </p:txBody>
      </p:sp>
      <p:sp>
        <p:nvSpPr>
          <p:cNvPr id="21" name="">
            <a:extLst xmlns:a="http://schemas.openxmlformats.org/drawingml/2006/main">
              <a:ext uri="{FF2B5EF4-FFF2-40B4-BE49-F238E27FC236}">
                <a16:creationId xmlns:a16="http://schemas.microsoft.com/office/drawing/2014/main" id="{1BD0254D-26A3-4748-81C0-355BA7E8BF42}"/>
              </a:ext>
            </a:extLst>
          </p:cNvPr>
          <p:cNvSpPr>
            <a:spLocks xmlns:a="http://schemas.openxmlformats.org/drawingml/2006/main" noGrp="1"/>
          </p:cNvSpPr>
          <p:nvPr/>
        </p:nvSpPr>
        <p:spPr>
          <a:xfrm xmlns:a="http://schemas.openxmlformats.org/drawingml/2006/main">
            <a:off x="609600" y="4324350"/>
            <a:ext cx="1524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A8BED6"/>
                </a:solidFill>
                <a:latin typeface="Aptos"/>
                <a:ea typeface="Aptos"/>
                <a:cs typeface="Aptos"/>
              </a:defRPr>
            </a:pPr>
            <a:r>
              <a:rPr sz="825" b="0">
                <a:solidFill>
                  <a:srgbClr val="A8BED6"/>
                </a:solidFill>
                <a:latin typeface="Aptos"/>
                <a:ea typeface="Aptos"/>
                <a:cs typeface="Aptos"/>
              </a:rPr>
              <a:t>Azure Translator + memory store</a:t>
            </a:r>
          </a:p>
        </p:txBody>
      </p:sp>
      <p:sp>
        <p:nvSpPr>
          <p:cNvPr id="22" name="">
            <a:extLst xmlns:a="http://schemas.openxmlformats.org/drawingml/2006/main">
              <a:ext uri="{FF2B5EF4-FFF2-40B4-BE49-F238E27FC236}">
                <a16:creationId xmlns:a16="http://schemas.microsoft.com/office/drawing/2014/main" id="{A6A350D9-6791-4193-9B43-365BC59E1E0E}"/>
              </a:ext>
            </a:extLst>
          </p:cNvPr>
          <p:cNvSpPr>
            <a:spLocks xmlns:a="http://schemas.openxmlformats.org/drawingml/2006/main" noGrp="1"/>
          </p:cNvSpPr>
          <p:nvPr/>
        </p:nvSpPr>
        <p:spPr>
          <a:xfrm xmlns:a="http://schemas.openxmlformats.org/drawingml/2006/main">
            <a:off x="3390900" y="3486150"/>
            <a:ext cx="323850" cy="323850"/>
          </a:xfrm>
          <a:prstGeom xmlns:a="http://schemas.openxmlformats.org/drawingml/2006/main" prst="ellipse">
            <a:avLst/>
          </a:prstGeom>
          <a:solidFill xmlns:a="http://schemas.openxmlformats.org/drawingml/2006/main">
            <a:srgbClr val="0F335A"/>
          </a:solidFill>
          <a:ln xmlns:a="http://schemas.openxmlformats.org/drawingml/2006/main" w="19050">
            <a:solidFill>
              <a:srgbClr val="5EE7DF"/>
            </a:solidFill>
            <a:prstDash val="solid"/>
          </a:ln>
        </p:spPr>
      </p:sp>
      <p:sp>
        <p:nvSpPr>
          <p:cNvPr id="23" name="">
            <a:extLst xmlns:a="http://schemas.openxmlformats.org/drawingml/2006/main">
              <a:ext uri="{FF2B5EF4-FFF2-40B4-BE49-F238E27FC236}">
                <a16:creationId xmlns:a16="http://schemas.microsoft.com/office/drawing/2014/main" id="{A13D28EC-0DBC-4985-AB27-5303673BDC1E}"/>
              </a:ext>
            </a:extLst>
          </p:cNvPr>
          <p:cNvSpPr>
            <a:spLocks xmlns:a="http://schemas.openxmlformats.org/drawingml/2006/main" noGrp="1"/>
          </p:cNvSpPr>
          <p:nvPr/>
        </p:nvSpPr>
        <p:spPr>
          <a:xfrm xmlns:a="http://schemas.openxmlformats.org/drawingml/2006/main">
            <a:off x="2933700" y="4038600"/>
            <a:ext cx="1238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4F9FF"/>
                </a:solidFill>
                <a:latin typeface="Aptos"/>
                <a:ea typeface="Aptos"/>
                <a:cs typeface="Aptos"/>
              </a:defRPr>
            </a:pPr>
            <a:r>
              <a:rPr sz="1200" b="1">
                <a:solidFill>
                  <a:srgbClr val="F4F9FF"/>
                </a:solidFill>
                <a:latin typeface="Aptos"/>
                <a:ea typeface="Aptos"/>
                <a:cs typeface="Aptos"/>
              </a:rPr>
              <a:t>AI services</a:t>
            </a:r>
          </a:p>
        </p:txBody>
      </p:sp>
      <p:sp>
        <p:nvSpPr>
          <p:cNvPr id="24" name="">
            <a:extLst xmlns:a="http://schemas.openxmlformats.org/drawingml/2006/main">
              <a:ext uri="{FF2B5EF4-FFF2-40B4-BE49-F238E27FC236}">
                <a16:creationId xmlns:a16="http://schemas.microsoft.com/office/drawing/2014/main" id="{9CFE5915-949C-4001-B804-CE98ED4C9CAD}"/>
              </a:ext>
            </a:extLst>
          </p:cNvPr>
          <p:cNvSpPr>
            <a:spLocks xmlns:a="http://schemas.openxmlformats.org/drawingml/2006/main" noGrp="1"/>
          </p:cNvSpPr>
          <p:nvPr/>
        </p:nvSpPr>
        <p:spPr>
          <a:xfrm xmlns:a="http://schemas.openxmlformats.org/drawingml/2006/main">
            <a:off x="2800350" y="4324350"/>
            <a:ext cx="1524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A8BED6"/>
                </a:solidFill>
                <a:latin typeface="Aptos"/>
                <a:ea typeface="Aptos"/>
                <a:cs typeface="Aptos"/>
              </a:defRPr>
            </a:pPr>
            <a:r>
              <a:rPr sz="825" b="0">
                <a:solidFill>
                  <a:srgbClr val="A8BED6"/>
                </a:solidFill>
                <a:latin typeface="Aptos"/>
                <a:ea typeface="Aptos"/>
                <a:cs typeface="Aptos"/>
              </a:rPr>
              <a:t>Azure OpenAI summary</a:t>
            </a:r>
          </a:p>
        </p:txBody>
      </p:sp>
      <p:sp>
        <p:nvSpPr>
          <p:cNvPr id="25" name="">
            <a:extLst xmlns:a="http://schemas.openxmlformats.org/drawingml/2006/main">
              <a:ext uri="{FF2B5EF4-FFF2-40B4-BE49-F238E27FC236}">
                <a16:creationId xmlns:a16="http://schemas.microsoft.com/office/drawing/2014/main" id="{E508BC8B-3F63-447B-B0B3-2817C15F9EEC}"/>
              </a:ext>
            </a:extLst>
          </p:cNvPr>
          <p:cNvSpPr>
            <a:spLocks xmlns:a="http://schemas.openxmlformats.org/drawingml/2006/main" noGrp="1"/>
          </p:cNvSpPr>
          <p:nvPr/>
        </p:nvSpPr>
        <p:spPr>
          <a:xfrm xmlns:a="http://schemas.openxmlformats.org/drawingml/2006/main">
            <a:off x="5581650" y="3486150"/>
            <a:ext cx="323850" cy="323850"/>
          </a:xfrm>
          <a:prstGeom xmlns:a="http://schemas.openxmlformats.org/drawingml/2006/main" prst="ellipse">
            <a:avLst/>
          </a:prstGeom>
          <a:solidFill xmlns:a="http://schemas.openxmlformats.org/drawingml/2006/main">
            <a:srgbClr val="0F335A"/>
          </a:solidFill>
          <a:ln xmlns:a="http://schemas.openxmlformats.org/drawingml/2006/main" w="19050">
            <a:solidFill>
              <a:srgbClr val="5EE7DF"/>
            </a:solidFill>
            <a:prstDash val="solid"/>
          </a:ln>
        </p:spPr>
      </p:sp>
      <p:sp>
        <p:nvSpPr>
          <p:cNvPr id="26" name="">
            <a:extLst xmlns:a="http://schemas.openxmlformats.org/drawingml/2006/main">
              <a:ext uri="{FF2B5EF4-FFF2-40B4-BE49-F238E27FC236}">
                <a16:creationId xmlns:a16="http://schemas.microsoft.com/office/drawing/2014/main" id="{70ADD7C5-0843-4823-969C-F599FB1A80AF}"/>
              </a:ext>
            </a:extLst>
          </p:cNvPr>
          <p:cNvSpPr>
            <a:spLocks xmlns:a="http://schemas.openxmlformats.org/drawingml/2006/main" noGrp="1"/>
          </p:cNvSpPr>
          <p:nvPr/>
        </p:nvSpPr>
        <p:spPr>
          <a:xfrm xmlns:a="http://schemas.openxmlformats.org/drawingml/2006/main">
            <a:off x="5124450" y="4038600"/>
            <a:ext cx="1238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4F9FF"/>
                </a:solidFill>
                <a:latin typeface="Aptos"/>
                <a:ea typeface="Aptos"/>
                <a:cs typeface="Aptos"/>
              </a:defRPr>
            </a:pPr>
            <a:r>
              <a:rPr sz="1200" b="1">
                <a:solidFill>
                  <a:srgbClr val="F4F9FF"/>
                </a:solidFill>
                <a:latin typeface="Aptos"/>
                <a:ea typeface="Aptos"/>
                <a:cs typeface="Aptos"/>
              </a:rPr>
              <a:t>Persistence</a:t>
            </a:r>
          </a:p>
        </p:txBody>
      </p:sp>
      <p:sp>
        <p:nvSpPr>
          <p:cNvPr id="27" name="">
            <a:extLst xmlns:a="http://schemas.openxmlformats.org/drawingml/2006/main">
              <a:ext uri="{FF2B5EF4-FFF2-40B4-BE49-F238E27FC236}">
                <a16:creationId xmlns:a16="http://schemas.microsoft.com/office/drawing/2014/main" id="{3ED0655A-058A-4207-873C-03C6F16871E9}"/>
              </a:ext>
            </a:extLst>
          </p:cNvPr>
          <p:cNvSpPr>
            <a:spLocks xmlns:a="http://schemas.openxmlformats.org/drawingml/2006/main" noGrp="1"/>
          </p:cNvSpPr>
          <p:nvPr/>
        </p:nvSpPr>
        <p:spPr>
          <a:xfrm xmlns:a="http://schemas.openxmlformats.org/drawingml/2006/main">
            <a:off x="4991100" y="4324350"/>
            <a:ext cx="1524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A8BED6"/>
                </a:solidFill>
                <a:latin typeface="Aptos"/>
                <a:ea typeface="Aptos"/>
                <a:cs typeface="Aptos"/>
              </a:defRPr>
            </a:pPr>
            <a:r>
              <a:rPr sz="825" b="0">
                <a:solidFill>
                  <a:srgbClr val="A8BED6"/>
                </a:solidFill>
                <a:latin typeface="Aptos"/>
                <a:ea typeface="Aptos"/>
                <a:cs typeface="Aptos"/>
              </a:rPr>
              <a:t>Azure Cosmos DB conversation model</a:t>
            </a:r>
          </a:p>
        </p:txBody>
      </p:sp>
      <p:sp>
        <p:nvSpPr>
          <p:cNvPr id="28" name="">
            <a:extLst xmlns:a="http://schemas.openxmlformats.org/drawingml/2006/main">
              <a:ext uri="{FF2B5EF4-FFF2-40B4-BE49-F238E27FC236}">
                <a16:creationId xmlns:a16="http://schemas.microsoft.com/office/drawing/2014/main" id="{51095D7E-F38D-4D6A-9AC3-014F281F7533}"/>
              </a:ext>
            </a:extLst>
          </p:cNvPr>
          <p:cNvSpPr>
            <a:spLocks xmlns:a="http://schemas.openxmlformats.org/drawingml/2006/main" noGrp="1"/>
          </p:cNvSpPr>
          <p:nvPr/>
        </p:nvSpPr>
        <p:spPr>
          <a:xfrm xmlns:a="http://schemas.openxmlformats.org/drawingml/2006/main">
            <a:off x="7772400" y="3486150"/>
            <a:ext cx="323850" cy="323850"/>
          </a:xfrm>
          <a:prstGeom xmlns:a="http://schemas.openxmlformats.org/drawingml/2006/main" prst="ellipse">
            <a:avLst/>
          </a:prstGeom>
          <a:solidFill xmlns:a="http://schemas.openxmlformats.org/drawingml/2006/main">
            <a:srgbClr val="0F335A"/>
          </a:solidFill>
          <a:ln xmlns:a="http://schemas.openxmlformats.org/drawingml/2006/main" w="19050">
            <a:solidFill>
              <a:srgbClr val="5EE7DF"/>
            </a:solidFill>
            <a:prstDash val="solid"/>
          </a:ln>
        </p:spPr>
      </p:sp>
      <p:sp>
        <p:nvSpPr>
          <p:cNvPr id="29" name="">
            <a:extLst xmlns:a="http://schemas.openxmlformats.org/drawingml/2006/main">
              <a:ext uri="{FF2B5EF4-FFF2-40B4-BE49-F238E27FC236}">
                <a16:creationId xmlns:a16="http://schemas.microsoft.com/office/drawing/2014/main" id="{D70E8133-8E59-4918-BD84-88EA798CE5EB}"/>
              </a:ext>
            </a:extLst>
          </p:cNvPr>
          <p:cNvSpPr>
            <a:spLocks xmlns:a="http://schemas.openxmlformats.org/drawingml/2006/main" noGrp="1"/>
          </p:cNvSpPr>
          <p:nvPr/>
        </p:nvSpPr>
        <p:spPr>
          <a:xfrm xmlns:a="http://schemas.openxmlformats.org/drawingml/2006/main">
            <a:off x="7315200" y="4038600"/>
            <a:ext cx="1238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4F9FF"/>
                </a:solidFill>
                <a:latin typeface="Aptos"/>
                <a:ea typeface="Aptos"/>
                <a:cs typeface="Aptos"/>
              </a:defRPr>
            </a:pPr>
            <a:r>
              <a:rPr sz="1200" b="1">
                <a:solidFill>
                  <a:srgbClr val="F4F9FF"/>
                </a:solidFill>
                <a:latin typeface="Aptos"/>
                <a:ea typeface="Aptos"/>
                <a:cs typeface="Aptos"/>
              </a:rPr>
              <a:t>Deployment</a:t>
            </a:r>
          </a:p>
        </p:txBody>
      </p:sp>
      <p:sp>
        <p:nvSpPr>
          <p:cNvPr id="30" name="">
            <a:extLst xmlns:a="http://schemas.openxmlformats.org/drawingml/2006/main">
              <a:ext uri="{FF2B5EF4-FFF2-40B4-BE49-F238E27FC236}">
                <a16:creationId xmlns:a16="http://schemas.microsoft.com/office/drawing/2014/main" id="{1CD7B7B0-9B41-4811-ABAF-EADF7CE6CD31}"/>
              </a:ext>
            </a:extLst>
          </p:cNvPr>
          <p:cNvSpPr>
            <a:spLocks xmlns:a="http://schemas.openxmlformats.org/drawingml/2006/main" noGrp="1"/>
          </p:cNvSpPr>
          <p:nvPr/>
        </p:nvSpPr>
        <p:spPr>
          <a:xfrm xmlns:a="http://schemas.openxmlformats.org/drawingml/2006/main">
            <a:off x="7181850" y="4324350"/>
            <a:ext cx="1524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A8BED6"/>
                </a:solidFill>
                <a:latin typeface="Aptos"/>
                <a:ea typeface="Aptos"/>
                <a:cs typeface="Aptos"/>
              </a:defRPr>
            </a:pPr>
            <a:r>
              <a:rPr sz="825" b="0">
                <a:solidFill>
                  <a:srgbClr val="A8BED6"/>
                </a:solidFill>
                <a:latin typeface="Aptos"/>
                <a:ea typeface="Aptos"/>
                <a:cs typeface="Aptos"/>
              </a:rPr>
              <a:t>App Service or Static Web Apps</a:t>
            </a:r>
          </a:p>
        </p:txBody>
      </p:sp>
      <p:sp>
        <p:nvSpPr>
          <p:cNvPr id="31" name="">
            <a:extLst xmlns:a="http://schemas.openxmlformats.org/drawingml/2006/main">
              <a:ext uri="{FF2B5EF4-FFF2-40B4-BE49-F238E27FC236}">
                <a16:creationId xmlns:a16="http://schemas.microsoft.com/office/drawing/2014/main" id="{EA12987B-55EC-421B-B99B-338F0A443C8B}"/>
              </a:ext>
            </a:extLst>
          </p:cNvPr>
          <p:cNvSpPr>
            <a:spLocks xmlns:a="http://schemas.openxmlformats.org/drawingml/2006/main" noGrp="1"/>
          </p:cNvSpPr>
          <p:nvPr/>
        </p:nvSpPr>
        <p:spPr>
          <a:xfrm xmlns:a="http://schemas.openxmlformats.org/drawingml/2006/main">
            <a:off x="9963150" y="3486150"/>
            <a:ext cx="323850" cy="323850"/>
          </a:xfrm>
          <a:prstGeom xmlns:a="http://schemas.openxmlformats.org/drawingml/2006/main" prst="ellipse">
            <a:avLst/>
          </a:prstGeom>
          <a:solidFill xmlns:a="http://schemas.openxmlformats.org/drawingml/2006/main">
            <a:srgbClr val="0F335A"/>
          </a:solidFill>
          <a:ln xmlns:a="http://schemas.openxmlformats.org/drawingml/2006/main" w="19050">
            <a:solidFill>
              <a:srgbClr val="5EE7DF"/>
            </a:solidFill>
            <a:prstDash val="solid"/>
          </a:ln>
        </p:spPr>
      </p:sp>
      <p:sp>
        <p:nvSpPr>
          <p:cNvPr id="32" name="">
            <a:extLst xmlns:a="http://schemas.openxmlformats.org/drawingml/2006/main">
              <a:ext uri="{FF2B5EF4-FFF2-40B4-BE49-F238E27FC236}">
                <a16:creationId xmlns:a16="http://schemas.microsoft.com/office/drawing/2014/main" id="{D04095EE-2F66-4689-BD4C-77486968D94D}"/>
              </a:ext>
            </a:extLst>
          </p:cNvPr>
          <p:cNvSpPr>
            <a:spLocks xmlns:a="http://schemas.openxmlformats.org/drawingml/2006/main" noGrp="1"/>
          </p:cNvSpPr>
          <p:nvPr/>
        </p:nvSpPr>
        <p:spPr>
          <a:xfrm xmlns:a="http://schemas.openxmlformats.org/drawingml/2006/main">
            <a:off x="9505950" y="4038600"/>
            <a:ext cx="1238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4F9FF"/>
                </a:solidFill>
                <a:latin typeface="Aptos"/>
                <a:ea typeface="Aptos"/>
                <a:cs typeface="Aptos"/>
              </a:defRPr>
            </a:pPr>
            <a:r>
              <a:rPr sz="1200" b="1">
                <a:solidFill>
                  <a:srgbClr val="F4F9FF"/>
                </a:solidFill>
                <a:latin typeface="Aptos"/>
                <a:ea typeface="Aptos"/>
                <a:cs typeface="Aptos"/>
              </a:rPr>
              <a:t>Scale</a:t>
            </a:r>
          </a:p>
        </p:txBody>
      </p:sp>
      <p:sp>
        <p:nvSpPr>
          <p:cNvPr id="33" name="">
            <a:extLst xmlns:a="http://schemas.openxmlformats.org/drawingml/2006/main">
              <a:ext uri="{FF2B5EF4-FFF2-40B4-BE49-F238E27FC236}">
                <a16:creationId xmlns:a16="http://schemas.microsoft.com/office/drawing/2014/main" id="{A9017585-810C-4CCA-9F46-DBA0885F8BB0}"/>
              </a:ext>
            </a:extLst>
          </p:cNvPr>
          <p:cNvSpPr>
            <a:spLocks xmlns:a="http://schemas.openxmlformats.org/drawingml/2006/main" noGrp="1"/>
          </p:cNvSpPr>
          <p:nvPr/>
        </p:nvSpPr>
        <p:spPr>
          <a:xfrm xmlns:a="http://schemas.openxmlformats.org/drawingml/2006/main">
            <a:off x="9372600" y="4324350"/>
            <a:ext cx="1524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A8BED6"/>
                </a:solidFill>
                <a:latin typeface="Aptos"/>
                <a:ea typeface="Aptos"/>
                <a:cs typeface="Aptos"/>
              </a:defRPr>
            </a:pPr>
            <a:r>
              <a:rPr sz="825" b="0">
                <a:solidFill>
                  <a:srgbClr val="A8BED6"/>
                </a:solidFill>
                <a:latin typeface="Aptos"/>
                <a:ea typeface="Aptos"/>
                <a:cs typeface="Aptos"/>
              </a:rPr>
              <a:t>Auth, monitoring, reliability</a:t>
            </a:r>
          </a:p>
        </p:txBody>
      </p:sp>
      <p:sp>
        <p:nvSpPr>
          <p:cNvPr id="34" name="">
            <a:extLst xmlns:a="http://schemas.openxmlformats.org/drawingml/2006/main">
              <a:ext uri="{FF2B5EF4-FFF2-40B4-BE49-F238E27FC236}">
                <a16:creationId xmlns:a16="http://schemas.microsoft.com/office/drawing/2014/main" id="{3464FC06-2E9F-4DC3-8A13-89692E2FF48F}"/>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99A2A690-78F0-406A-9328-593576E2F5DC}"/>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Translation uses Azure Translator API with fallback; summary is local mock AI; persistent storage target is Azure Cosmos DB.</a:t>
            </a:r>
          </a:p>
        </p:txBody>
      </p:sp>
    </p:spTree>
    <p:extLst>
      <p:ext uri="{BB962C8B-B14F-4D97-AF65-F5344CB8AC3E}">
        <p14:creationId xmlns:p14="http://schemas.microsoft.com/office/powerpoint/2010/main" val="111905555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811F0A4-5F07-4121-B180-4147A342A99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A1BE796-D312-4321-9BF1-DA7C6F77E29D}"/>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E343FB4-A8BB-44EB-99D1-626B8CEC0CD1}"/>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7D3AE02-8541-4998-B0DA-1FCE369093F1}"/>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4B8AABF-1695-4621-B730-87D03D27B426}"/>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097D10F-F253-44B2-A56A-D98FBAF66119}"/>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E8EF89B-C125-4654-BAD3-FD7D46056FAE}"/>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93B4396-676C-4D93-A88F-1EF522DFA5F5}"/>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5AD9414D-599D-4C16-9D10-1524D457A01B}"/>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B9E09B1-FC3B-488B-9697-309253982ECC}"/>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4041ADF2-7E34-4A0E-8393-E36197E7C074}"/>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C950404A-E7A9-4E10-B4B0-E18E58AF5E19}"/>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10-label">
            <a:extLst xmlns:a="http://schemas.openxmlformats.org/drawingml/2006/main">
              <a:ext uri="{FF2B5EF4-FFF2-40B4-BE49-F238E27FC236}">
                <a16:creationId xmlns:a16="http://schemas.microsoft.com/office/drawing/2014/main" id="{693D3246-032E-4B06-B39B-C411DED4521A}"/>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E90702D7-DD8E-4422-8CE8-F198A604E30D}"/>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9911ACB2-BEBF-4DB3-9120-1D473107CC6B}"/>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10</a:t>
            </a:r>
          </a:p>
        </p:txBody>
      </p:sp>
      <p:sp>
        <p:nvSpPr>
          <p:cNvPr id="16" name="">
            <a:extLst xmlns:a="http://schemas.openxmlformats.org/drawingml/2006/main">
              <a:ext uri="{FF2B5EF4-FFF2-40B4-BE49-F238E27FC236}">
                <a16:creationId xmlns:a16="http://schemas.microsoft.com/office/drawing/2014/main" id="{FDD045DF-F9C4-468B-9582-F42385F55FB1}"/>
              </a:ext>
            </a:extLst>
          </p:cNvPr>
          <p:cNvSpPr>
            <a:spLocks xmlns:a="http://schemas.openxmlformats.org/drawingml/2006/main" noGrp="1"/>
          </p:cNvSpPr>
          <p:nvPr/>
        </p:nvSpPr>
        <p:spPr>
          <a:xfrm xmlns:a="http://schemas.openxmlformats.org/drawingml/2006/main">
            <a:off x="857250" y="120015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CONCLUSION</a:t>
            </a:r>
          </a:p>
        </p:txBody>
      </p:sp>
      <p:sp>
        <p:nvSpPr>
          <p:cNvPr id="17" name="">
            <a:extLst xmlns:a="http://schemas.openxmlformats.org/drawingml/2006/main">
              <a:ext uri="{FF2B5EF4-FFF2-40B4-BE49-F238E27FC236}">
                <a16:creationId xmlns:a16="http://schemas.microsoft.com/office/drawing/2014/main" id="{F1D977CC-25A9-4408-9DD4-B94435778F99}"/>
              </a:ext>
            </a:extLst>
          </p:cNvPr>
          <p:cNvSpPr>
            <a:spLocks xmlns:a="http://schemas.openxmlformats.org/drawingml/2006/main" noGrp="1"/>
          </p:cNvSpPr>
          <p:nvPr/>
        </p:nvSpPr>
        <p:spPr>
          <a:xfrm xmlns:a="http://schemas.openxmlformats.org/drawingml/2006/main">
            <a:off x="857250" y="1657350"/>
            <a:ext cx="752475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F4F9FF"/>
                </a:solidFill>
                <a:latin typeface="Aptos Display"/>
                <a:ea typeface="Aptos Display"/>
                <a:cs typeface="Aptos Display"/>
              </a:defRPr>
            </a:pPr>
            <a:r>
              <a:rPr sz="3150" b="1">
                <a:solidFill>
                  <a:srgbClr val="F4F9FF"/>
                </a:solidFill>
                <a:latin typeface="Aptos Display"/>
                <a:ea typeface="Aptos Display"/>
                <a:cs typeface="Aptos Display"/>
              </a:rPr>
              <a:t>Linguabridge demonstrates a practical cloud AI pattern for inclusive communication.</a:t>
            </a:r>
          </a:p>
        </p:txBody>
      </p:sp>
      <p:sp>
        <p:nvSpPr>
          <p:cNvPr id="18" name="">
            <a:extLst xmlns:a="http://schemas.openxmlformats.org/drawingml/2006/main">
              <a:ext uri="{FF2B5EF4-FFF2-40B4-BE49-F238E27FC236}">
                <a16:creationId xmlns:a16="http://schemas.microsoft.com/office/drawing/2014/main" id="{AF1299EB-8BC3-4EDF-93FE-C7E230B9D434}"/>
              </a:ext>
            </a:extLst>
          </p:cNvPr>
          <p:cNvSpPr>
            <a:spLocks xmlns:a="http://schemas.openxmlformats.org/drawingml/2006/main" noGrp="1"/>
          </p:cNvSpPr>
          <p:nvPr/>
        </p:nvSpPr>
        <p:spPr>
          <a:xfrm xmlns:a="http://schemas.openxmlformats.org/drawingml/2006/main">
            <a:off x="857250" y="3124200"/>
            <a:ext cx="47625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19" name="">
            <a:extLst xmlns:a="http://schemas.openxmlformats.org/drawingml/2006/main">
              <a:ext uri="{FF2B5EF4-FFF2-40B4-BE49-F238E27FC236}">
                <a16:creationId xmlns:a16="http://schemas.microsoft.com/office/drawing/2014/main" id="{42ABD493-4C73-4D6D-BD25-0A5EA7008491}"/>
              </a:ext>
            </a:extLst>
          </p:cNvPr>
          <p:cNvSpPr>
            <a:spLocks xmlns:a="http://schemas.openxmlformats.org/drawingml/2006/main" noGrp="1"/>
          </p:cNvSpPr>
          <p:nvPr/>
        </p:nvSpPr>
        <p:spPr>
          <a:xfrm xmlns:a="http://schemas.openxmlformats.org/drawingml/2006/main">
            <a:off x="857250" y="323850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E8FA3D6-9C98-4DE4-A84E-7FF4BFAF104D}"/>
              </a:ext>
            </a:extLst>
          </p:cNvPr>
          <p:cNvSpPr>
            <a:spLocks xmlns:a="http://schemas.openxmlformats.org/drawingml/2006/main" noGrp="1"/>
          </p:cNvSpPr>
          <p:nvPr/>
        </p:nvSpPr>
        <p:spPr>
          <a:xfrm xmlns:a="http://schemas.openxmlformats.org/drawingml/2006/main">
            <a:off x="1085850" y="3276600"/>
            <a:ext cx="438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Natural multilingual input</a:t>
            </a:r>
          </a:p>
        </p:txBody>
      </p:sp>
      <p:sp>
        <p:nvSpPr>
          <p:cNvPr id="21" name="">
            <a:extLst xmlns:a="http://schemas.openxmlformats.org/drawingml/2006/main">
              <a:ext uri="{FF2B5EF4-FFF2-40B4-BE49-F238E27FC236}">
                <a16:creationId xmlns:a16="http://schemas.microsoft.com/office/drawing/2014/main" id="{A1B3F56B-9E36-47F9-B872-62169750BB18}"/>
              </a:ext>
            </a:extLst>
          </p:cNvPr>
          <p:cNvSpPr>
            <a:spLocks xmlns:a="http://schemas.openxmlformats.org/drawingml/2006/main" noGrp="1"/>
          </p:cNvSpPr>
          <p:nvPr/>
        </p:nvSpPr>
        <p:spPr>
          <a:xfrm xmlns:a="http://schemas.openxmlformats.org/drawingml/2006/main">
            <a:off x="857250" y="3752850"/>
            <a:ext cx="47625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2" name="">
            <a:extLst xmlns:a="http://schemas.openxmlformats.org/drawingml/2006/main">
              <a:ext uri="{FF2B5EF4-FFF2-40B4-BE49-F238E27FC236}">
                <a16:creationId xmlns:a16="http://schemas.microsoft.com/office/drawing/2014/main" id="{1DCF0B82-8077-4C1A-AE70-F22E7BA71707}"/>
              </a:ext>
            </a:extLst>
          </p:cNvPr>
          <p:cNvSpPr>
            <a:spLocks xmlns:a="http://schemas.openxmlformats.org/drawingml/2006/main" noGrp="1"/>
          </p:cNvSpPr>
          <p:nvPr/>
        </p:nvSpPr>
        <p:spPr>
          <a:xfrm xmlns:a="http://schemas.openxmlformats.org/drawingml/2006/main">
            <a:off x="857250" y="3867150"/>
            <a:ext cx="38100" cy="304800"/>
          </a:xfrm>
          <a:prstGeom xmlns:a="http://schemas.openxmlformats.org/drawingml/2006/main" prst="rect">
            <a:avLst/>
          </a:prstGeom>
          <a:solidFill xmlns:a="http://schemas.openxmlformats.org/drawingml/2006/main">
            <a:srgbClr val="52E3A4"/>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069A58E7-4FFA-48A9-9F2F-E5F3C1531488}"/>
              </a:ext>
            </a:extLst>
          </p:cNvPr>
          <p:cNvSpPr>
            <a:spLocks xmlns:a="http://schemas.openxmlformats.org/drawingml/2006/main" noGrp="1"/>
          </p:cNvSpPr>
          <p:nvPr/>
        </p:nvSpPr>
        <p:spPr>
          <a:xfrm xmlns:a="http://schemas.openxmlformats.org/drawingml/2006/main">
            <a:off x="1085850" y="3905250"/>
            <a:ext cx="438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Receiver-specific understanding</a:t>
            </a:r>
          </a:p>
        </p:txBody>
      </p:sp>
      <p:sp>
        <p:nvSpPr>
          <p:cNvPr id="24" name="">
            <a:extLst xmlns:a="http://schemas.openxmlformats.org/drawingml/2006/main">
              <a:ext uri="{FF2B5EF4-FFF2-40B4-BE49-F238E27FC236}">
                <a16:creationId xmlns:a16="http://schemas.microsoft.com/office/drawing/2014/main" id="{D9E0B71F-D7F9-4C18-9B0B-8A93B21FBDA7}"/>
              </a:ext>
            </a:extLst>
          </p:cNvPr>
          <p:cNvSpPr>
            <a:spLocks xmlns:a="http://schemas.openxmlformats.org/drawingml/2006/main" noGrp="1"/>
          </p:cNvSpPr>
          <p:nvPr/>
        </p:nvSpPr>
        <p:spPr>
          <a:xfrm xmlns:a="http://schemas.openxmlformats.org/drawingml/2006/main">
            <a:off x="857250" y="4381500"/>
            <a:ext cx="47625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5" name="">
            <a:extLst xmlns:a="http://schemas.openxmlformats.org/drawingml/2006/main">
              <a:ext uri="{FF2B5EF4-FFF2-40B4-BE49-F238E27FC236}">
                <a16:creationId xmlns:a16="http://schemas.microsoft.com/office/drawing/2014/main" id="{B4975862-0122-4212-BB09-E901E77ABEB7}"/>
              </a:ext>
            </a:extLst>
          </p:cNvPr>
          <p:cNvSpPr>
            <a:spLocks xmlns:a="http://schemas.openxmlformats.org/drawingml/2006/main" noGrp="1"/>
          </p:cNvSpPr>
          <p:nvPr/>
        </p:nvSpPr>
        <p:spPr>
          <a:xfrm xmlns:a="http://schemas.openxmlformats.org/drawingml/2006/main">
            <a:off x="857250" y="449580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EB56CC37-FC45-4439-AD0C-FCBD018C8504}"/>
              </a:ext>
            </a:extLst>
          </p:cNvPr>
          <p:cNvSpPr>
            <a:spLocks xmlns:a="http://schemas.openxmlformats.org/drawingml/2006/main" noGrp="1"/>
          </p:cNvSpPr>
          <p:nvPr/>
        </p:nvSpPr>
        <p:spPr>
          <a:xfrm xmlns:a="http://schemas.openxmlformats.org/drawingml/2006/main">
            <a:off x="1085850" y="4533900"/>
            <a:ext cx="438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Structured conversation memory</a:t>
            </a:r>
          </a:p>
        </p:txBody>
      </p:sp>
      <p:sp>
        <p:nvSpPr>
          <p:cNvPr id="27" name="">
            <a:extLst xmlns:a="http://schemas.openxmlformats.org/drawingml/2006/main">
              <a:ext uri="{FF2B5EF4-FFF2-40B4-BE49-F238E27FC236}">
                <a16:creationId xmlns:a16="http://schemas.microsoft.com/office/drawing/2014/main" id="{CDE91F51-A1B0-4CF4-9F32-D8E76EE3AD67}"/>
              </a:ext>
            </a:extLst>
          </p:cNvPr>
          <p:cNvSpPr>
            <a:spLocks xmlns:a="http://schemas.openxmlformats.org/drawingml/2006/main" noGrp="1"/>
          </p:cNvSpPr>
          <p:nvPr/>
        </p:nvSpPr>
        <p:spPr>
          <a:xfrm xmlns:a="http://schemas.openxmlformats.org/drawingml/2006/main">
            <a:off x="857250" y="5010150"/>
            <a:ext cx="47625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8" name="">
            <a:extLst xmlns:a="http://schemas.openxmlformats.org/drawingml/2006/main">
              <a:ext uri="{FF2B5EF4-FFF2-40B4-BE49-F238E27FC236}">
                <a16:creationId xmlns:a16="http://schemas.microsoft.com/office/drawing/2014/main" id="{A64156D5-1734-4B3E-AF6A-AF0124F1A55C}"/>
              </a:ext>
            </a:extLst>
          </p:cNvPr>
          <p:cNvSpPr>
            <a:spLocks xmlns:a="http://schemas.openxmlformats.org/drawingml/2006/main" noGrp="1"/>
          </p:cNvSpPr>
          <p:nvPr/>
        </p:nvSpPr>
        <p:spPr>
          <a:xfrm xmlns:a="http://schemas.openxmlformats.org/drawingml/2006/main">
            <a:off x="857250" y="5124450"/>
            <a:ext cx="38100" cy="304800"/>
          </a:xfrm>
          <a:prstGeom xmlns:a="http://schemas.openxmlformats.org/drawingml/2006/main" prst="rect">
            <a:avLst/>
          </a:prstGeom>
          <a:solidFill xmlns:a="http://schemas.openxmlformats.org/drawingml/2006/main">
            <a:srgbClr val="52E3A4"/>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BDAF303E-64EE-4CE8-B56B-3139F850F29A}"/>
              </a:ext>
            </a:extLst>
          </p:cNvPr>
          <p:cNvSpPr>
            <a:spLocks xmlns:a="http://schemas.openxmlformats.org/drawingml/2006/main" noGrp="1"/>
          </p:cNvSpPr>
          <p:nvPr/>
        </p:nvSpPr>
        <p:spPr>
          <a:xfrm xmlns:a="http://schemas.openxmlformats.org/drawingml/2006/main">
            <a:off x="1085850" y="5162550"/>
            <a:ext cx="438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AI-generated recap</a:t>
            </a:r>
          </a:p>
        </p:txBody>
      </p:sp>
      <p:sp>
        <p:nvSpPr>
          <p:cNvPr id="30" name="">
            <a:extLst xmlns:a="http://schemas.openxmlformats.org/drawingml/2006/main">
              <a:ext uri="{FF2B5EF4-FFF2-40B4-BE49-F238E27FC236}">
                <a16:creationId xmlns:a16="http://schemas.microsoft.com/office/drawing/2014/main" id="{07FEFA87-BB28-4607-B7C3-9B104D8A6CDA}"/>
              </a:ext>
            </a:extLst>
          </p:cNvPr>
          <p:cNvSpPr>
            <a:spLocks xmlns:a="http://schemas.openxmlformats.org/drawingml/2006/main" noGrp="1"/>
          </p:cNvSpPr>
          <p:nvPr/>
        </p:nvSpPr>
        <p:spPr>
          <a:xfrm xmlns:a="http://schemas.openxmlformats.org/drawingml/2006/main">
            <a:off x="857250" y="5638800"/>
            <a:ext cx="47625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31" name="">
            <a:extLst xmlns:a="http://schemas.openxmlformats.org/drawingml/2006/main">
              <a:ext uri="{FF2B5EF4-FFF2-40B4-BE49-F238E27FC236}">
                <a16:creationId xmlns:a16="http://schemas.microsoft.com/office/drawing/2014/main" id="{C2BA2990-29B3-4978-864D-63AB6987B357}"/>
              </a:ext>
            </a:extLst>
          </p:cNvPr>
          <p:cNvSpPr>
            <a:spLocks xmlns:a="http://schemas.openxmlformats.org/drawingml/2006/main" noGrp="1"/>
          </p:cNvSpPr>
          <p:nvPr/>
        </p:nvSpPr>
        <p:spPr>
          <a:xfrm xmlns:a="http://schemas.openxmlformats.org/drawingml/2006/main">
            <a:off x="857250" y="575310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8D453B06-0F45-49F9-93EE-9338B007A25D}"/>
              </a:ext>
            </a:extLst>
          </p:cNvPr>
          <p:cNvSpPr>
            <a:spLocks xmlns:a="http://schemas.openxmlformats.org/drawingml/2006/main" noGrp="1"/>
          </p:cNvSpPr>
          <p:nvPr/>
        </p:nvSpPr>
        <p:spPr>
          <a:xfrm xmlns:a="http://schemas.openxmlformats.org/drawingml/2006/main">
            <a:off x="1085850" y="5791200"/>
            <a:ext cx="438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Azure-ready architecture</a:t>
            </a:r>
          </a:p>
        </p:txBody>
      </p:sp>
      <p:sp>
        <p:nvSpPr>
          <p:cNvPr id="33" name="">
            <a:extLst xmlns:a="http://schemas.openxmlformats.org/drawingml/2006/main">
              <a:ext uri="{FF2B5EF4-FFF2-40B4-BE49-F238E27FC236}">
                <a16:creationId xmlns:a16="http://schemas.microsoft.com/office/drawing/2014/main" id="{D01E43F7-B88D-4EF8-B3BB-FA7390AE39F7}"/>
              </a:ext>
            </a:extLst>
          </p:cNvPr>
          <p:cNvSpPr>
            <a:spLocks xmlns:a="http://schemas.openxmlformats.org/drawingml/2006/main" noGrp="1"/>
          </p:cNvSpPr>
          <p:nvPr/>
        </p:nvSpPr>
        <p:spPr>
          <a:xfrm xmlns:a="http://schemas.openxmlformats.org/drawingml/2006/main">
            <a:off x="6896100" y="3143250"/>
            <a:ext cx="3543300" cy="1809750"/>
          </a:xfrm>
          <a:prstGeom xmlns:a="http://schemas.openxmlformats.org/drawingml/2006/main" prst="roundRect">
            <a:avLst>
              <a:gd name="adj" fmla="val 4211"/>
            </a:avLst>
          </a:prstGeom>
          <a:solidFill xmlns:a="http://schemas.openxmlformats.org/drawingml/2006/main">
            <a:srgbClr val="0D2B4C"/>
          </a:solidFill>
          <a:ln xmlns:a="http://schemas.openxmlformats.org/drawingml/2006/main" w="11430">
            <a:solidFill>
              <a:srgbClr val="5EE7DF"/>
            </a:solidFill>
            <a:prstDash val="solid"/>
          </a:ln>
        </p:spPr>
      </p:sp>
      <p:sp>
        <p:nvSpPr>
          <p:cNvPr id="34" name="">
            <a:extLst xmlns:a="http://schemas.openxmlformats.org/drawingml/2006/main">
              <a:ext uri="{FF2B5EF4-FFF2-40B4-BE49-F238E27FC236}">
                <a16:creationId xmlns:a16="http://schemas.microsoft.com/office/drawing/2014/main" id="{B391A128-2C01-49AE-8B97-E2B68B40F7DC}"/>
              </a:ext>
            </a:extLst>
          </p:cNvPr>
          <p:cNvSpPr>
            <a:spLocks xmlns:a="http://schemas.openxmlformats.org/drawingml/2006/main" noGrp="1"/>
          </p:cNvSpPr>
          <p:nvPr/>
        </p:nvSpPr>
        <p:spPr>
          <a:xfrm xmlns:a="http://schemas.openxmlformats.org/drawingml/2006/main">
            <a:off x="7486650" y="3562350"/>
            <a:ext cx="23812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4350" b="1">
                <a:solidFill>
                  <a:srgbClr val="5EE7DF"/>
                </a:solidFill>
                <a:latin typeface="Aptos Display"/>
                <a:ea typeface="Aptos Display"/>
                <a:cs typeface="Aptos Display"/>
              </a:defRPr>
            </a:pPr>
            <a:r>
              <a:rPr sz="4350" b="1">
                <a:solidFill>
                  <a:srgbClr val="5EE7DF"/>
                </a:solidFill>
                <a:latin typeface="Aptos Display"/>
                <a:ea typeface="Aptos Display"/>
                <a:cs typeface="Aptos Display"/>
              </a:rPr>
              <a:t>Q&amp;A</a:t>
            </a:r>
          </a:p>
        </p:txBody>
      </p:sp>
      <p:sp>
        <p:nvSpPr>
          <p:cNvPr id="35" name="">
            <a:extLst xmlns:a="http://schemas.openxmlformats.org/drawingml/2006/main">
              <a:ext uri="{FF2B5EF4-FFF2-40B4-BE49-F238E27FC236}">
                <a16:creationId xmlns:a16="http://schemas.microsoft.com/office/drawing/2014/main" id="{8EF4BA13-87A1-45A5-AA32-489FDBA6A77A}"/>
              </a:ext>
            </a:extLst>
          </p:cNvPr>
          <p:cNvSpPr>
            <a:spLocks xmlns:a="http://schemas.openxmlformats.org/drawingml/2006/main" noGrp="1"/>
          </p:cNvSpPr>
          <p:nvPr/>
        </p:nvSpPr>
        <p:spPr>
          <a:xfrm xmlns:a="http://schemas.openxmlformats.org/drawingml/2006/main">
            <a:off x="7296150" y="4362450"/>
            <a:ext cx="2762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A8BED6"/>
                </a:solidFill>
                <a:latin typeface="Aptos"/>
                <a:ea typeface="Aptos"/>
                <a:cs typeface="Aptos"/>
              </a:defRPr>
            </a:pPr>
            <a:r>
              <a:rPr sz="1125" b="0">
                <a:solidFill>
                  <a:srgbClr val="A8BED6"/>
                </a:solidFill>
                <a:latin typeface="Aptos"/>
                <a:ea typeface="Aptos"/>
                <a:cs typeface="Aptos"/>
              </a:rPr>
              <a:t>Architecture · AI services · demo workflow</a:t>
            </a:r>
          </a:p>
        </p:txBody>
      </p:sp>
      <p:sp>
        <p:nvSpPr>
          <p:cNvPr id="36" name="">
            <a:extLst xmlns:a="http://schemas.openxmlformats.org/drawingml/2006/main">
              <a:ext uri="{FF2B5EF4-FFF2-40B4-BE49-F238E27FC236}">
                <a16:creationId xmlns:a16="http://schemas.microsoft.com/office/drawing/2014/main" id="{8EBF66CC-69B8-461D-A44E-42B451B37C7E}"/>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C81C0F47-BF40-4BB4-A9D1-95F2A2DD7EE2}"/>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Translation uses Azure Translator API with fallback; summary is local mock AI; persistent storage target is Azure Cosmos DB.</a:t>
            </a:r>
          </a:p>
        </p:txBody>
      </p:sp>
    </p:spTree>
    <p:extLst>
      <p:ext uri="{BB962C8B-B14F-4D97-AF65-F5344CB8AC3E}">
        <p14:creationId xmlns:p14="http://schemas.microsoft.com/office/powerpoint/2010/main" val="5250033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2026-06-03T15:33:29.7410000Z</dcterms:created>
  <dcterms:modified xsi:type="dcterms:W3CDTF">2026-06-03T15:33:29.7410000Z</dcterms:modified>
</coreProperties>
</file>